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9amXakB02BgEYdUfDyYutPGdW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9665b7da5f_0_6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9665b7da5f_0_6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0" name="Google Shape;57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9665b7da5f_0_55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9665b7da5f_0_5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" name="Google Shape;62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C36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949440" y="-914400"/>
            <a:ext cx="3657600" cy="3657600"/>
          </a:xfrm>
          <a:prstGeom prst="ellipse">
            <a:avLst/>
          </a:prstGeom>
          <a:solidFill>
            <a:srgbClr val="1A3057">
              <a:alpha val="50196"/>
            </a:srgbClr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589520" y="274320"/>
            <a:ext cx="2011680" cy="2011680"/>
          </a:xfrm>
          <a:prstGeom prst="ellipse">
            <a:avLst/>
          </a:prstGeom>
          <a:solidFill>
            <a:srgbClr val="00C0D1">
              <a:alpha val="30196"/>
            </a:srgbClr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40080" y="320040"/>
            <a:ext cx="2651760" cy="34747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32004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DATABRICKS MEETUP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960120"/>
            <a:ext cx="73152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Powering Genie Room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1764792"/>
            <a:ext cx="73152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with Metric Views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65176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Production-Ready Self-Service Analytics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647950" y="3494525"/>
            <a:ext cx="3990000" cy="804600"/>
          </a:xfrm>
          <a:prstGeom prst="rect">
            <a:avLst/>
          </a:prstGeom>
          <a:noFill/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Mohit Kathail (World Bank Group)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Nayan Sonowal(Navy Federal Credit Union)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1C36"/>
          </a:solidFill>
          <a:ln cap="flat" cmpd="sng" w="12700">
            <a:solidFill>
              <a:srgbClr val="0E1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00C0D1"/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Genie?  +  Our Demo Dataset: TPC-H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20040" y="1243584"/>
            <a:ext cx="438912" cy="438912"/>
          </a:xfrm>
          <a:prstGeom prst="ellipse">
            <a:avLst/>
          </a:prstGeom>
          <a:solidFill>
            <a:srgbClr val="00C0D1">
              <a:alpha val="85098"/>
            </a:srgbClr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20040" y="12435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68680" y="11704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Ask a question in plain English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68680" y="1472184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"What is total revenue by nation in 1995?"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0040" y="2093976"/>
            <a:ext cx="438912" cy="438912"/>
          </a:xfrm>
          <a:prstGeom prst="ellipse">
            <a:avLst/>
          </a:prstGeom>
          <a:solidFill>
            <a:srgbClr val="00C0D1">
              <a:alpha val="85098"/>
            </a:srgbClr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20040" y="209397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68680" y="20208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Genie generates SQL from your data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68680" y="232257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Queries your Unity Catalog tables &amp; Metric Views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" y="2944368"/>
            <a:ext cx="438912" cy="438912"/>
          </a:xfrm>
          <a:prstGeom prst="ellipse">
            <a:avLst/>
          </a:prstGeom>
          <a:solidFill>
            <a:srgbClr val="00C0D1">
              <a:alpha val="85098"/>
            </a:srgbClr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0040" y="29443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68680" y="287121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Results returned with explanation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68680" y="3172968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Validated against pre-defined benchmark questions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0040" y="3794760"/>
            <a:ext cx="438912" cy="438912"/>
          </a:xfrm>
          <a:prstGeom prst="ellipse">
            <a:avLst/>
          </a:prstGeom>
          <a:solidFill>
            <a:srgbClr val="00C0D1">
              <a:alpha val="85098"/>
            </a:srgbClr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20040" y="37947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68680" y="372160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Iterate until 100% accuracy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68680" y="402336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Benchmarks give an objective production-readiness score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46320" y="969264"/>
            <a:ext cx="4023360" cy="310896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46320" y="969264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TPC-H: samples.tpch  (built into every Databricks workspace)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46320" y="1353312"/>
            <a:ext cx="19202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46320" y="1353312"/>
            <a:ext cx="1920240" cy="237744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46320" y="135331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892040" y="1609344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o_orderkey, o_custkey, o_totalprice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o_orderdate, o_orderpriority, o_orderstatus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46320" y="2286000"/>
            <a:ext cx="19202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46320" y="2286000"/>
            <a:ext cx="1920240" cy="237744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846320" y="228600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LINEITEM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92040" y="254203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l_orderkey, l_extendedprice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l_discount, l_tax, l_returnflag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846320" y="3218688"/>
            <a:ext cx="19202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846320" y="3218688"/>
            <a:ext cx="1920240" cy="237744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846320" y="3218688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92040" y="34747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c_custkey, c_name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c_nationkey, c_acctbal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903720" y="1353312"/>
            <a:ext cx="19202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903720" y="1353312"/>
            <a:ext cx="1920240" cy="237744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903720" y="135331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NATION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949440" y="1609344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n_nationkey, n_name, n_regionkey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903720" y="2286000"/>
            <a:ext cx="19202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903720" y="2286000"/>
            <a:ext cx="1920240" cy="237744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903720" y="228600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949440" y="254203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r_regionkey, r_name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903720" y="3218688"/>
            <a:ext cx="19202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903720" y="3218688"/>
            <a:ext cx="1920240" cy="237744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903720" y="3218688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SUPPLIER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949440" y="34747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s_suppkey, s_name, s_nationkey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846320" y="4187952"/>
            <a:ext cx="4023360" cy="329184"/>
          </a:xfrm>
          <a:prstGeom prst="rect">
            <a:avLst/>
          </a:prstGeom>
          <a:solidFill>
            <a:srgbClr val="0D1117"/>
          </a:solidFill>
          <a:ln cap="flat" cmpd="sng" w="1015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846320" y="4187952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00C0D1"/>
                </a:solidFill>
                <a:latin typeface="Courier New"/>
                <a:ea typeface="Courier New"/>
                <a:cs typeface="Courier New"/>
                <a:sym typeface="Courier New"/>
              </a:rPr>
              <a:t>orders → lineitem  |  orders → customer → nation → region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20040" y="4599432"/>
            <a:ext cx="8549640" cy="457200"/>
          </a:xfrm>
          <a:prstGeom prst="rect">
            <a:avLst/>
          </a:prstGeom>
          <a:solidFill>
            <a:srgbClr val="0E1C36"/>
          </a:solidFill>
          <a:ln cap="flat" cmpd="sng" w="95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11480" y="4599432"/>
            <a:ext cx="8366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Sample questions: "Revenue by nation?" | "Top customers by balance?" | "Avg discount on URGENT orders?" | "Revenue trend by quarter?"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C36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Benchmark-Driven Methodology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7200" y="694944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Measure progress objectively — never ship without a benchmark score.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11480" y="1298448"/>
            <a:ext cx="1234440" cy="1234440"/>
          </a:xfrm>
          <a:prstGeom prst="ellipse">
            <a:avLst/>
          </a:prstGeom>
          <a:solidFill>
            <a:srgbClr val="FF6B35">
              <a:alpha val="85098"/>
            </a:srgbClr>
          </a:solidFill>
          <a:ln cap="flat" cmpd="sng" w="254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11480" y="1298448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20040" y="1901952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42910" y="2487184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10–20 SME questions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with gold SQL answers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40" y="18013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2103120" y="1298448"/>
            <a:ext cx="1234440" cy="1234440"/>
          </a:xfrm>
          <a:prstGeom prst="ellipse">
            <a:avLst/>
          </a:prstGeom>
          <a:solidFill>
            <a:srgbClr val="00C0D1">
              <a:alpha val="85098"/>
            </a:srgbClr>
          </a:solidFill>
          <a:ln cap="flat" cmpd="sng" w="254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103120" y="1298448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011680" y="1901952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&amp;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045915" y="2487177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Each question is 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fresh conversation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0" y="18013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3794760" y="1298448"/>
            <a:ext cx="1234440" cy="1234440"/>
          </a:xfrm>
          <a:prstGeom prst="ellipse">
            <a:avLst/>
          </a:prstGeom>
          <a:solidFill>
            <a:srgbClr val="F59E0B">
              <a:alpha val="85098"/>
            </a:srgbClr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794760" y="1298448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703320" y="1901952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749040" y="245118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Which questions fail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and why?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18013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5486400" y="1298448"/>
            <a:ext cx="1234440" cy="1234440"/>
          </a:xfrm>
          <a:prstGeom prst="ellipse">
            <a:avLst/>
          </a:prstGeom>
          <a:solidFill>
            <a:srgbClr val="8B5CF6">
              <a:alpha val="85098"/>
            </a:srgbClr>
          </a:solidFill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486400" y="1298448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394960" y="1901952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463540" y="2432304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One change at a time: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metadata, SQL, text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0" y="18013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7178040" y="1298448"/>
            <a:ext cx="1234440" cy="1234440"/>
          </a:xfrm>
          <a:prstGeom prst="ellipse">
            <a:avLst/>
          </a:prstGeom>
          <a:solidFill>
            <a:srgbClr val="22C55E">
              <a:alpha val="85098"/>
            </a:srgbClr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178040" y="1298448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086600" y="1901952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Re-run &amp;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155180" y="2478024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Confirm improvement,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 regressions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371600" y="27889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↺  Repeat until 100% accuracy is achieved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65760" y="321868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How Benchmarks Work in Genie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84048" y="3630168"/>
            <a:ext cx="128016" cy="128016"/>
          </a:xfrm>
          <a:prstGeom prst="ellipse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94360" y="360273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Up to 500 benchmark questions per Genie Space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84048" y="3913632"/>
            <a:ext cx="128016" cy="128016"/>
          </a:xfrm>
          <a:prstGeom prst="ellipse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94360" y="3886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Each question runs isolated — no shared context between benchmark runs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384048" y="4197096"/>
            <a:ext cx="128016" cy="128016"/>
          </a:xfrm>
          <a:prstGeom prst="ellipse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94360" y="4169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Gold SQL per question: Genie automatically grades its own generated SQL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84048" y="4480560"/>
            <a:ext cx="128016" cy="128016"/>
          </a:xfrm>
          <a:prstGeom prst="ellipse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94360" y="44531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Test multiple phrasings (2–4 variants) of high-stakes questions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84048" y="4764024"/>
            <a:ext cx="128016" cy="128016"/>
          </a:xfrm>
          <a:prstGeom prst="ellipse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94360" y="4736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benchmark score is what you share with stakeholders to build trust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C36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0"/>
            <a:ext cx="9144000" cy="950976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82880" y="82296"/>
            <a:ext cx="804672" cy="80467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82880" y="82296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115568" y="5486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Iteration 0: Baseline — Raw Tables, Cryptic Columns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115568" y="521208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Add TPC-H tables to Genie as-is. No metadata, no descriptions, no context whatsoever.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242048" y="91440"/>
            <a:ext cx="1691640" cy="768096"/>
          </a:xfrm>
          <a:prstGeom prst="rect">
            <a:avLst/>
          </a:prstGeom>
          <a:solidFill>
            <a:srgbClr val="0E1C36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7242048" y="91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— → 38%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242048" y="5486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Benchmark Score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28600" y="1042416"/>
            <a:ext cx="4251960" cy="274320"/>
          </a:xfrm>
          <a:prstGeom prst="rect">
            <a:avLst/>
          </a:prstGeom>
          <a:solidFill>
            <a:srgbClr val="EF4444">
              <a:alpha val="8196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20040" y="104241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added to Genie Space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20040" y="1417320"/>
            <a:ext cx="118872" cy="11887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02920" y="136245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Tables added: orders, lineitem, customer, nation, region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20040" y="1783080"/>
            <a:ext cx="118872" cy="11887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02920" y="172821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 column comments, no table descriptions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20040" y="2148840"/>
            <a:ext cx="118872" cy="11887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02920" y="209397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Default TPC-H column aliases kept (o_, l_, c_, n_, r_)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20040" y="2514600"/>
            <a:ext cx="118872" cy="11887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02920" y="245973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13 benchmark questions defined by domain SMEs before any dev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228600" y="2971800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20040" y="2971800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TPC-H  ▸  What Genie sees for "Show revenue by nation"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228600" y="3218688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20040" y="3218688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SELECT ??? FROM orders WHERE ???  -- no context to build query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28600" y="3465576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20040" y="3465576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-- columns: o_orderkey, o_custkey, o_totalprice, o_orderdate...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228600" y="3712464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20040" y="3712464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-- "revenue"→??? | "nation"→??? | "urgent"→???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709160" y="1042416"/>
            <a:ext cx="4224528" cy="274320"/>
          </a:xfrm>
          <a:prstGeom prst="rect">
            <a:avLst/>
          </a:prstGeom>
          <a:solidFill>
            <a:srgbClr val="22C55E">
              <a:alpha val="8196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800600" y="1042416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 What Genie can answer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800600" y="138988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Nothing — 0 of 13 benchmark questions pass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800600" y="173736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Genie declines to generate SQL for most questions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709160" y="2267712"/>
            <a:ext cx="4224528" cy="274320"/>
          </a:xfrm>
          <a:prstGeom prst="rect">
            <a:avLst/>
          </a:prstGeom>
          <a:solidFill>
            <a:srgbClr val="EF4444">
              <a:alpha val="8196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800600" y="2267712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Why everything fails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800600" y="2615184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"Show revenue by nation" — no column maps to "revenue"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800600" y="2962656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"URGENT orders last month" — o_orderpriority is meaningless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800600" y="331012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Genie cannot guess: revenue = l_extendedprice*(1-l_discount)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228600" y="4389120"/>
            <a:ext cx="8686800" cy="329184"/>
          </a:xfrm>
          <a:prstGeom prst="rect">
            <a:avLst/>
          </a:prstGeom>
          <a:solidFill>
            <a:srgbClr val="1A305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47472" y="4389120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💡  Poor naming blocks 100% of queries. You cannot skip foundational metadata and expect Genie to guess business meaning from technical aliases.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solidFill>
            <a:srgbClr val="EF4444">
              <a:alpha val="8196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Next: Table Metadata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0" y="4791456"/>
            <a:ext cx="9144000" cy="347472"/>
          </a:xfrm>
          <a:prstGeom prst="rect">
            <a:avLst/>
          </a:prstGeom>
          <a:solidFill>
            <a:srgbClr val="080F1E"/>
          </a:solidFill>
          <a:ln cap="flat" cmpd="sng" w="12700">
            <a:solidFill>
              <a:srgbClr val="080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886968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85800" y="4846320"/>
            <a:ext cx="201168" cy="20116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7607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I0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7607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2020824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819656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70992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170992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154680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2953512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2843784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2843784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4288536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087368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3977640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3977640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54%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422392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5221224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111496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5111496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77%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6556248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355080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24535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624535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7488936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737920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MV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737920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C36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/>
          <p:nvPr/>
        </p:nvSpPr>
        <p:spPr>
          <a:xfrm>
            <a:off x="0" y="0"/>
            <a:ext cx="9144000" cy="950976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82880" y="82296"/>
            <a:ext cx="804672" cy="80467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82880" y="82296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115568" y="5486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Iteration 1: Table &amp; Column Metadata in Unity Catalog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1115568" y="521208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Add human-readable table descriptions and column comments so Genie understands business meaning.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7242048" y="91440"/>
            <a:ext cx="1691640" cy="768096"/>
          </a:xfrm>
          <a:prstGeom prst="rect">
            <a:avLst/>
          </a:prstGeom>
          <a:solidFill>
            <a:srgbClr val="0E1C36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7242048" y="91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r>
              <a:rPr b="1" lang="en-US" sz="16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% → 46%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7242048" y="5486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Benchmark Score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228600" y="1042416"/>
            <a:ext cx="4251960" cy="274320"/>
          </a:xfrm>
          <a:prstGeom prst="rect">
            <a:avLst/>
          </a:prstGeom>
          <a:solidFill>
            <a:srgbClr val="F59E0B">
              <a:alpha val="8196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320040" y="104241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Changes made in Unity Catalog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320040" y="1417320"/>
            <a:ext cx="118872" cy="11887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02920" y="136245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Table description: "orders — each row is one customer order"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320040" y="1783080"/>
            <a:ext cx="118872" cy="11887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502920" y="172821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o_totalprice   →  comment: "Total order value in USD"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20040" y="2148840"/>
            <a:ext cx="118872" cy="11887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502920" y="209397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l_discount     →  comment: "Discount ratio applied (0.00–0.10 scale)"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320040" y="2514600"/>
            <a:ext cx="118872" cy="11887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502920" y="245973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o_orderpriority → comment: "Urgency tier — e.g. 1-URGENT, 2-HIGH, 3-MEDIUM"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228600" y="2971800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20040" y="2971800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TPC-H  ▸  Genie confuses join columns — all look like ID columns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228600" y="3218688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20040" y="3218688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orders.o_custkey   -- FK to customer.c_custkey    (correct)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228600" y="3465576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320040" y="3465576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orders.o_orderkey  -- FK to lineitem.l_orderkey   (correct)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228600" y="3712464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20040" y="3712464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-- Genie tries:    orders.o_orderkey → customer.c_nationkey (WRONG)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4709160" y="1042416"/>
            <a:ext cx="4224528" cy="274320"/>
          </a:xfrm>
          <a:prstGeom prst="rect">
            <a:avLst/>
          </a:prstGeom>
          <a:solidFill>
            <a:srgbClr val="22C55E">
              <a:alpha val="8196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800600" y="1042416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 What now works (+15%)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800600" y="138988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"Count orders placed in 1997" — single-table query correct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800600" y="173736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"Average order value?" — o_totalprice understood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800600" y="2084832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"List Open status orders" — o_orderstatus mapped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4709160" y="2615184"/>
            <a:ext cx="4224528" cy="274320"/>
          </a:xfrm>
          <a:prstGeom prst="rect">
            <a:avLst/>
          </a:prstGeom>
          <a:solidFill>
            <a:srgbClr val="EF4444">
              <a:alpha val="8196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4800600" y="2615184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What still fails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800600" y="2962656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"Revenue by nation" — 3-table join orders→customer→nation fails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4800600" y="331012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Genie confuses o_custkey vs c_nationkey as FK candidates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800600" y="365760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"Discount by region" — 4-table join produces wrong results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228600" y="4389120"/>
            <a:ext cx="8686800" cy="329184"/>
          </a:xfrm>
          <a:prstGeom prst="rect">
            <a:avLst/>
          </a:prstGeom>
          <a:solidFill>
            <a:srgbClr val="1A305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347472" y="4389120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💡  Metadata unlocks single-table queries immediately. Multi-table joins still fail because Genie must guess join paths when foreign keys are implicit.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solidFill>
            <a:srgbClr val="F59E0B">
              <a:alpha val="8196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Next: PK/FK Keys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0" y="4791456"/>
            <a:ext cx="9144000" cy="347472"/>
          </a:xfrm>
          <a:prstGeom prst="rect">
            <a:avLst/>
          </a:prstGeom>
          <a:solidFill>
            <a:srgbClr val="080F1E"/>
          </a:solidFill>
          <a:ln cap="flat" cmpd="sng" w="12700">
            <a:solidFill>
              <a:srgbClr val="080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886968" y="4910328"/>
            <a:ext cx="932688" cy="2743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685800" y="4846320"/>
            <a:ext cx="201168" cy="20116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57607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I0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57607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2020824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1819656" y="4846320"/>
            <a:ext cx="201168" cy="20116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170992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170992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3154680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2953512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2843784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2843784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288536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4087368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3977640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3977640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54%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5422392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5221224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5111496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5111496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77%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6556248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6355080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624535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624535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7488936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737920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MV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737920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C36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"/>
          <p:cNvSpPr/>
          <p:nvPr/>
        </p:nvSpPr>
        <p:spPr>
          <a:xfrm>
            <a:off x="0" y="0"/>
            <a:ext cx="9144000" cy="950976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182880" y="82296"/>
            <a:ext cx="804672" cy="80467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182880" y="82296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1115568" y="5486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Iteration 2: Primary &amp; Foreign Key Constraints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1115568" y="521208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Explicitly define how TPC-H tables connect via Unity Catalog PK/FK relationships.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7242048" y="91440"/>
            <a:ext cx="1691640" cy="768096"/>
          </a:xfrm>
          <a:prstGeom prst="rect">
            <a:avLst/>
          </a:prstGeom>
          <a:solidFill>
            <a:srgbClr val="0E1C36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7242048" y="91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r>
              <a:rPr b="1" lang="en-US" sz="16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% → 54%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7242048" y="5486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Benchmark Score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228600" y="1042416"/>
            <a:ext cx="4251960" cy="274320"/>
          </a:xfrm>
          <a:prstGeom prst="rect">
            <a:avLst/>
          </a:prstGeom>
          <a:solidFill>
            <a:srgbClr val="F97316">
              <a:alpha val="81960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320040" y="104241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Relationships defined in Unity Catalog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320040" y="1417320"/>
            <a:ext cx="118872" cy="11887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502920" y="136245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orders.o_orderkey    ←  lineitem.l_orderkey   (FK defined)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320040" y="1783080"/>
            <a:ext cx="118872" cy="11887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502920" y="172821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customer.c_custkey   ←  orders.o_custkey      (FK defined)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320040" y="2148840"/>
            <a:ext cx="118872" cy="11887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502920" y="209397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nation.n_nationkey   ←  customer.c_nationkey  (FK defined)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320040" y="2514600"/>
            <a:ext cx="118872" cy="11887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502920" y="245973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region.r_regionkey   ←  nation.n_regionkey    (FK defined)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228600" y="2971800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320040" y="2971800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TPC-H  ▸  Wrong value literals Genie fabricates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228600" y="3218688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320040" y="3218688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WHERE o_orderpriority = 'URGENT'   -- actual value: '1-URGENT'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228600" y="3465576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320040" y="3465576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WHERE o_orderstatus   = 'Open'     -- actual value: 'O'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228600" y="3712464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320040" y="3712464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WHERE r_name          = 'Asia'     -- actual value: 'ASIA'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4709160" y="1042416"/>
            <a:ext cx="4224528" cy="274320"/>
          </a:xfrm>
          <a:prstGeom prst="rect">
            <a:avLst/>
          </a:prstGeom>
          <a:solidFill>
            <a:srgbClr val="22C55E">
              <a:alpha val="8196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800600" y="1042416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 What now works (+23%)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4800600" y="138988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"Total revenue by nation" — 3-table join correct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4800600" y="173736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"Top 5 customers by order value" — correct join path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4800600" y="2084832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"Orders per region" — nation→region roll-up works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4709160" y="2615184"/>
            <a:ext cx="4224528" cy="274320"/>
          </a:xfrm>
          <a:prstGeom prst="rect">
            <a:avLst/>
          </a:prstGeom>
          <a:solidFill>
            <a:srgbClr val="EF4444">
              <a:alpha val="8196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4800600" y="2615184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What still fails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4800600" y="2962656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"Show URGENT orders" → WHERE o_orderpriority='URGENT' (wrong literal)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4800600" y="331012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"Revenue from Asia" → WHERE r_name='Asia' (actual: 'ASIA')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800600" y="365760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"Fulfilled orders" → WHERE o_orderstatus='Fulfilled' (actual: 'F')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228600" y="4389120"/>
            <a:ext cx="8686800" cy="329184"/>
          </a:xfrm>
          <a:prstGeom prst="rect">
            <a:avLst/>
          </a:prstGeom>
          <a:solidFill>
            <a:srgbClr val="1A305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47472" y="4389120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💡  PK/FK constraints eliminate join guesswork entirely. The next failure mode is categorical values — Genie fabricates plausible-sounding literals it has never seen.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solidFill>
            <a:srgbClr val="F97316">
              <a:alpha val="81960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Next: Value Sampling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0" y="4791456"/>
            <a:ext cx="9144000" cy="347472"/>
          </a:xfrm>
          <a:prstGeom prst="rect">
            <a:avLst/>
          </a:prstGeom>
          <a:solidFill>
            <a:srgbClr val="080F1E"/>
          </a:solidFill>
          <a:ln cap="flat" cmpd="sng" w="12700">
            <a:solidFill>
              <a:srgbClr val="080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886968" y="4910328"/>
            <a:ext cx="932688" cy="2743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685800" y="4846320"/>
            <a:ext cx="201168" cy="20116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57607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I0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7607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2020824" y="4910328"/>
            <a:ext cx="932688" cy="274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1819656" y="4846320"/>
            <a:ext cx="201168" cy="20116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170992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170992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3154680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2953512" y="4846320"/>
            <a:ext cx="201168" cy="201168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2843784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I2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2843784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288536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4087368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3977640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3977640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54%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5422392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5221224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5111496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5111496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77%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6556248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6355080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624535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624535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7488936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737920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MV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737920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C36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"/>
          <p:cNvSpPr/>
          <p:nvPr/>
        </p:nvSpPr>
        <p:spPr>
          <a:xfrm>
            <a:off x="0" y="0"/>
            <a:ext cx="9144000" cy="950976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182880" y="82296"/>
            <a:ext cx="804672" cy="80467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182880" y="82296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1115568" y="5486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Iteration 3: Value Sampling on Categorical Columns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1115568" y="521208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Enable value sampling and dictionaries so Genie knows actual data values in each column.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7242048" y="91440"/>
            <a:ext cx="1691640" cy="768096"/>
          </a:xfrm>
          <a:prstGeom prst="rect">
            <a:avLst/>
          </a:prstGeom>
          <a:solidFill>
            <a:srgbClr val="0E1C36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7242048" y="91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r>
              <a:rPr b="1" lang="en-US" sz="16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% → 77%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7242048" y="5486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Benchmark Score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228600" y="1042416"/>
            <a:ext cx="4251960" cy="274320"/>
          </a:xfrm>
          <a:prstGeom prst="rect">
            <a:avLst/>
          </a:prstGeom>
          <a:solidFill>
            <a:srgbClr val="3B82F6">
              <a:alpha val="8196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320040" y="104241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Sampling and dictionaries enabled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320040" y="1417320"/>
            <a:ext cx="118872" cy="11887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502920" y="136245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o_orderpriority sampled: ['1-URGENT','2-HIGH','3-MEDIUM','4-NOT SPECIFIED','5-LOW']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320040" y="1783080"/>
            <a:ext cx="118872" cy="11887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502920" y="172821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o_orderstatus dictionaries: 'O'=Open, 'F'=Fulfilled, 'P'=Processing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320040" y="2148840"/>
            <a:ext cx="118872" cy="11887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502920" y="209397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r_name sampled: ['AFRICA','AMERICA','ASIA','EUROPE','MIDDLE EAST']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320040" y="2514600"/>
            <a:ext cx="118872" cy="11887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502920" y="245973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l_returnflag dictionaries: 'N'=None, 'A'=Accepted Return, 'R'=Returned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228600" y="2971800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320040" y="2971800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TPC-H  ▸  Wrong aggregation Genie produces for complex KPIs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228600" y="3218688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320040" y="3218688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-- Genie:   COUNT(o_orderkey) AS customer_count         (WRONG)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228600" y="3465576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320040" y="3465576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-- Correct: COUNT(DISTINCT o_custkey) AS customer_count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228600" y="3712464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320040" y="3712464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-- Revenue: SUM(l_extendedprice * (1 - l_discount))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4709160" y="1042416"/>
            <a:ext cx="4224528" cy="274320"/>
          </a:xfrm>
          <a:prstGeom prst="rect">
            <a:avLst/>
          </a:prstGeom>
          <a:solidFill>
            <a:srgbClr val="22C55E">
              <a:alpha val="8196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4800600" y="1042416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 What now works (+16%)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4800600" y="138988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"Show URGENT orders" → WHERE o_orderpriority='1-URGENT'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4800600" y="173736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"Revenue from ASIA" → WHERE r_name='ASIA'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4800600" y="2084832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"Returned line items" → WHERE l_returnflag='R'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4709160" y="2615184"/>
            <a:ext cx="4224528" cy="274320"/>
          </a:xfrm>
          <a:prstGeom prst="rect">
            <a:avLst/>
          </a:prstGeom>
          <a:solidFill>
            <a:srgbClr val="EF4444">
              <a:alpha val="8196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4800600" y="2615184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What still fails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4800600" y="2962656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"Revenue per distinct customer" → COUNT(o_orderkey) not COUNT(DISTINCT o_custkey)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4800600" y="331012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"Avg discount on high-priority orders" → wrong aggregation formula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4800600" y="365760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Non-standard multi-measure KPIs need explicit SQL guidance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228600" y="4389120"/>
            <a:ext cx="8686800" cy="329184"/>
          </a:xfrm>
          <a:prstGeom prst="rect">
            <a:avLst/>
          </a:prstGeom>
          <a:solidFill>
            <a:srgbClr val="1A305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347472" y="4389120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💡  Value sampling fixes all categorical filter failures at once. The remaining gap is complex KPI formulas — Genie needs gold-standard SQL examples as a reference.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solidFill>
            <a:srgbClr val="3B82F6">
              <a:alpha val="8196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Next: Example SQL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0" y="4791456"/>
            <a:ext cx="9144000" cy="347472"/>
          </a:xfrm>
          <a:prstGeom prst="rect">
            <a:avLst/>
          </a:prstGeom>
          <a:solidFill>
            <a:srgbClr val="080F1E"/>
          </a:solidFill>
          <a:ln cap="flat" cmpd="sng" w="12700">
            <a:solidFill>
              <a:srgbClr val="080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886968" y="4910328"/>
            <a:ext cx="932688" cy="2743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685800" y="4846320"/>
            <a:ext cx="201168" cy="20116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57607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I0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57607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2020824" y="4910328"/>
            <a:ext cx="932688" cy="274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1819656" y="4846320"/>
            <a:ext cx="201168" cy="20116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170992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170992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3154680" y="4910328"/>
            <a:ext cx="932688" cy="274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2953512" y="4846320"/>
            <a:ext cx="201168" cy="201168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2843784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I2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2843784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4288536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4087368" y="4846320"/>
            <a:ext cx="201168" cy="20116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3977640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3977640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54%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5422392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5221224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5111496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5111496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77%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6556248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6355080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624535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624535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7488936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737920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MV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737920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C36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"/>
          <p:cNvSpPr/>
          <p:nvPr/>
        </p:nvSpPr>
        <p:spPr>
          <a:xfrm>
            <a:off x="0" y="0"/>
            <a:ext cx="9144000" cy="950976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182880" y="82296"/>
            <a:ext cx="804672" cy="80467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182880" y="82296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1115568" y="5486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Iteration 4: Example SQL for Complex KPIs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1115568" y="521208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Add gold-standard SQL queries as explicit references — 77% accuracy confirmed by the Databricks blog.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7242048" y="91440"/>
            <a:ext cx="1691640" cy="768096"/>
          </a:xfrm>
          <a:prstGeom prst="rect">
            <a:avLst/>
          </a:prstGeom>
          <a:solidFill>
            <a:srgbClr val="0E1C36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7242048" y="91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r>
              <a:rPr b="1" lang="en-US" sz="16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% → 85%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7242048" y="5486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Benchmark Score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228600" y="1042416"/>
            <a:ext cx="4251960" cy="274320"/>
          </a:xfrm>
          <a:prstGeom prst="rect">
            <a:avLst/>
          </a:prstGeom>
          <a:solidFill>
            <a:srgbClr val="8B5CF6">
              <a:alpha val="8196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320040" y="104241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SQL queries added to Genie Space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320040" y="1417320"/>
            <a:ext cx="118872" cy="11887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502920" y="136245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Revenue = SUM(l_extendedprice * (1 - l_discount))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320040" y="1783080"/>
            <a:ext cx="118872" cy="11887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502920" y="172821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Revenue per customer = SUM(o_totalprice) / COUNT(DISTINCT o_custkey)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320040" y="2148840"/>
            <a:ext cx="118872" cy="11887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502920" y="209397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High-priority revenue: SUM with FILTER WHERE o_orderpriority='1-URGENT'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320040" y="2514600"/>
            <a:ext cx="118872" cy="11887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502920" y="245973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Avg discount by nation: 3-table join orders → customer → nation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228600" y="2971800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320040" y="2971800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TPC-H  ▸  Gold SQL example added for revenue by nation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228600" y="3218688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8"/>
          <p:cNvSpPr/>
          <p:nvPr/>
        </p:nvSpPr>
        <p:spPr>
          <a:xfrm>
            <a:off x="320040" y="3218688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SELECT n.n_name, SUM(l.l_extendedprice*(1-l.l_discount)) AS revenue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228600" y="3465576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320040" y="3465576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 JOIN lineitem l ON o.o_orderkey=l.l_orderkey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228600" y="3712464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320040" y="3712464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  JOIN customer c ON o.o_custkey=c.c_custkey JOIN nation n ON c.c_nationkey=n.n_nationkey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4709160" y="1042416"/>
            <a:ext cx="4224528" cy="274320"/>
          </a:xfrm>
          <a:prstGeom prst="rect">
            <a:avLst/>
          </a:prstGeom>
          <a:solidFill>
            <a:srgbClr val="22C55E">
              <a:alpha val="8196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4800600" y="1042416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 What now works — 77% accuracy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4800600" y="138988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"Total revenue by nation?" → correct 3-table join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4800600" y="173736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"Revenue per customer in EUROPE?" → DISTINCT count correct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4800600" y="2084832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"High-priority order share?" → FILTER clause used correctly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4709160" y="2615184"/>
            <a:ext cx="4224528" cy="274320"/>
          </a:xfrm>
          <a:prstGeom prst="rect">
            <a:avLst/>
          </a:prstGeom>
          <a:solidFill>
            <a:srgbClr val="EF4444">
              <a:alpha val="8196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4800600" y="2615184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What still fails — 23% gap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4800600" y="2962656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"Last quarter revenue" → uses calendar quarter not date range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4800600" y="331012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"Revenue from ASIA region" → nation→region 4-table join missed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4800600" y="365760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"Discount as a percentage" → returns 0.085 instead of 8.5%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228600" y="4389120"/>
            <a:ext cx="8686800" cy="329184"/>
          </a:xfrm>
          <a:prstGeom prst="rect">
            <a:avLst/>
          </a:prstGeom>
          <a:solidFill>
            <a:srgbClr val="1A305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347472" y="4389120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💡  77% is the largest single jump — Example SQL is the biggest lever for complex KPIs. The final 23% is domain rules and date semantics, not SQL structure.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solidFill>
            <a:srgbClr val="8B5CF6">
              <a:alpha val="8196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Next: Instructions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0" y="4791456"/>
            <a:ext cx="9144000" cy="347472"/>
          </a:xfrm>
          <a:prstGeom prst="rect">
            <a:avLst/>
          </a:prstGeom>
          <a:solidFill>
            <a:srgbClr val="080F1E"/>
          </a:solidFill>
          <a:ln cap="flat" cmpd="sng" w="12700">
            <a:solidFill>
              <a:srgbClr val="080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886968" y="4910328"/>
            <a:ext cx="932688" cy="2743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685800" y="4846320"/>
            <a:ext cx="201168" cy="20116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57607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I0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57607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2020824" y="4910328"/>
            <a:ext cx="932688" cy="274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1819656" y="4846320"/>
            <a:ext cx="201168" cy="20116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170992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8"/>
          <p:cNvSpPr/>
          <p:nvPr/>
        </p:nvSpPr>
        <p:spPr>
          <a:xfrm>
            <a:off x="170992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3154680" y="4910328"/>
            <a:ext cx="932688" cy="274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2953512" y="4846320"/>
            <a:ext cx="201168" cy="201168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2843784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I2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2843784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4288536" y="4910328"/>
            <a:ext cx="932688" cy="27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4087368" y="4846320"/>
            <a:ext cx="201168" cy="20116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8"/>
          <p:cNvSpPr/>
          <p:nvPr/>
        </p:nvSpPr>
        <p:spPr>
          <a:xfrm>
            <a:off x="3977640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3977640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54%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5422392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5221224" y="4846320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5111496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I4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5111496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77%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6556248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6355080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8"/>
          <p:cNvSpPr/>
          <p:nvPr/>
        </p:nvSpPr>
        <p:spPr>
          <a:xfrm>
            <a:off x="624535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I5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8"/>
          <p:cNvSpPr/>
          <p:nvPr/>
        </p:nvSpPr>
        <p:spPr>
          <a:xfrm>
            <a:off x="624535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8"/>
          <p:cNvSpPr/>
          <p:nvPr/>
        </p:nvSpPr>
        <p:spPr>
          <a:xfrm>
            <a:off x="7488936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8"/>
          <p:cNvSpPr/>
          <p:nvPr/>
        </p:nvSpPr>
        <p:spPr>
          <a:xfrm>
            <a:off x="737920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MV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737920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C36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"/>
          <p:cNvSpPr/>
          <p:nvPr/>
        </p:nvSpPr>
        <p:spPr>
          <a:xfrm>
            <a:off x="0" y="0"/>
            <a:ext cx="9144000" cy="950976"/>
          </a:xfrm>
          <a:prstGeom prst="rect">
            <a:avLst/>
          </a:prstGeom>
          <a:solidFill>
            <a:srgbClr val="1A3057"/>
          </a:solidFill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9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9"/>
          <p:cNvSpPr/>
          <p:nvPr/>
        </p:nvSpPr>
        <p:spPr>
          <a:xfrm>
            <a:off x="182880" y="82296"/>
            <a:ext cx="804672" cy="8046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9"/>
          <p:cNvSpPr/>
          <p:nvPr/>
        </p:nvSpPr>
        <p:spPr>
          <a:xfrm>
            <a:off x="182880" y="82296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1115568" y="5486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Iteration 5: Text Instructions for Edge Cases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1115568" y="521208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Add Genie space instructions for date semantics, region roll-ups, unit formatting — 100% confirmed by blog.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7242048" y="91440"/>
            <a:ext cx="1691640" cy="768096"/>
          </a:xfrm>
          <a:prstGeom prst="rect">
            <a:avLst/>
          </a:prstGeom>
          <a:solidFill>
            <a:srgbClr val="0E1C36"/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9"/>
          <p:cNvSpPr/>
          <p:nvPr/>
        </p:nvSpPr>
        <p:spPr>
          <a:xfrm>
            <a:off x="7242048" y="91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r>
              <a:rPr b="1" lang="en-US" sz="16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% → 93%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9"/>
          <p:cNvSpPr/>
          <p:nvPr/>
        </p:nvSpPr>
        <p:spPr>
          <a:xfrm>
            <a:off x="7242048" y="5486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Benchmark Score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228600" y="1042416"/>
            <a:ext cx="4251960" cy="274320"/>
          </a:xfrm>
          <a:prstGeom prst="rect">
            <a:avLst/>
          </a:prstGeom>
          <a:solidFill>
            <a:srgbClr val="22C55E">
              <a:alpha val="8196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320040" y="104241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Instructions added to Genie Space knowledge store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320040" y="1417320"/>
            <a:ext cx="118872" cy="1188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9"/>
          <p:cNvSpPr/>
          <p:nvPr/>
        </p:nvSpPr>
        <p:spPr>
          <a:xfrm>
            <a:off x="502920" y="136245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"Use o_orderdate for all date-related questions"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320040" y="1783080"/>
            <a:ext cx="118872" cy="1188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9"/>
          <p:cNvSpPr/>
          <p:nvPr/>
        </p:nvSpPr>
        <p:spPr>
          <a:xfrm>
            <a:off x="502920" y="172821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"'Recent' = last 365 days. 'Last year' = previous full calendar year"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9"/>
          <p:cNvSpPr/>
          <p:nvPr/>
        </p:nvSpPr>
        <p:spPr>
          <a:xfrm>
            <a:off x="320040" y="2148840"/>
            <a:ext cx="118872" cy="1188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9"/>
          <p:cNvSpPr/>
          <p:nvPr/>
        </p:nvSpPr>
        <p:spPr>
          <a:xfrm>
            <a:off x="502920" y="209397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"Region roll-up: join nation→region via n.n_regionkey=r.r_regionkey"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9"/>
          <p:cNvSpPr/>
          <p:nvPr/>
        </p:nvSpPr>
        <p:spPr>
          <a:xfrm>
            <a:off x="320040" y="2514600"/>
            <a:ext cx="118872" cy="1188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9"/>
          <p:cNvSpPr/>
          <p:nvPr/>
        </p:nvSpPr>
        <p:spPr>
          <a:xfrm>
            <a:off x="502920" y="2459736"/>
            <a:ext cx="3904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"l_discount and l_tax are ratios (0–0.10); show as % by multiplying ×100"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/>
          <p:nvPr/>
        </p:nvSpPr>
        <p:spPr>
          <a:xfrm>
            <a:off x="228600" y="2971800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"/>
          <p:cNvSpPr/>
          <p:nvPr/>
        </p:nvSpPr>
        <p:spPr>
          <a:xfrm>
            <a:off x="320040" y="2971800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TPC-H  ▸  Instructions that closed the final 23% gap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9"/>
          <p:cNvSpPr/>
          <p:nvPr/>
        </p:nvSpPr>
        <p:spPr>
          <a:xfrm>
            <a:off x="228600" y="3218688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320040" y="3218688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"recent" → o_orderdate &gt;= CURRENT_DATE - INTERVAL 365 DAYS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9"/>
          <p:cNvSpPr/>
          <p:nvPr/>
        </p:nvSpPr>
        <p:spPr>
          <a:xfrm>
            <a:off x="228600" y="3465576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9"/>
          <p:cNvSpPr/>
          <p:nvPr/>
        </p:nvSpPr>
        <p:spPr>
          <a:xfrm>
            <a:off x="320040" y="3465576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"by region" → JOIN nation n ON c.c_nationkey=n.n_nationkey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228600" y="3712464"/>
            <a:ext cx="4251960" cy="24688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9"/>
          <p:cNvSpPr/>
          <p:nvPr/>
        </p:nvSpPr>
        <p:spPr>
          <a:xfrm>
            <a:off x="320040" y="3712464"/>
            <a:ext cx="410565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JOIN region r ON n.n_regionkey=r.r_regionkey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4709160" y="1042416"/>
            <a:ext cx="4224528" cy="274320"/>
          </a:xfrm>
          <a:prstGeom prst="rect">
            <a:avLst/>
          </a:prstGeom>
          <a:solidFill>
            <a:srgbClr val="22C55E">
              <a:alpha val="8196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4800600" y="1042416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 93% benchmark accuracy achieved!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9"/>
          <p:cNvSpPr/>
          <p:nvPr/>
        </p:nvSpPr>
        <p:spPr>
          <a:xfrm>
            <a:off x="4800600" y="138988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"Last quarter revenue" → correct 90-day o_orderdate range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9"/>
          <p:cNvSpPr/>
          <p:nvPr/>
        </p:nvSpPr>
        <p:spPr>
          <a:xfrm>
            <a:off x="4800600" y="173736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"Revenue from ASIA region" → 4-table join via region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9"/>
          <p:cNvSpPr/>
          <p:nvPr/>
        </p:nvSpPr>
        <p:spPr>
          <a:xfrm>
            <a:off x="4800600" y="2084832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✓  "Average discount rate?" → 8.5% (not 0.085)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9"/>
          <p:cNvSpPr/>
          <p:nvPr/>
        </p:nvSpPr>
        <p:spPr>
          <a:xfrm>
            <a:off x="4709160" y="2615184"/>
            <a:ext cx="4224528" cy="274320"/>
          </a:xfrm>
          <a:prstGeom prst="rect">
            <a:avLst/>
          </a:prstGeom>
          <a:solidFill>
            <a:srgbClr val="EF4444">
              <a:alpha val="8196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9"/>
          <p:cNvSpPr/>
          <p:nvPr/>
        </p:nvSpPr>
        <p:spPr>
          <a:xfrm>
            <a:off x="4800600" y="2615184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New problem: context stack is complex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9"/>
          <p:cNvSpPr/>
          <p:nvPr/>
        </p:nvSpPr>
        <p:spPr>
          <a:xfrm>
            <a:off x="4800600" y="2962656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5 tables + column comments + FK constraints = large Genie context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9"/>
          <p:cNvSpPr/>
          <p:nvPr/>
        </p:nvSpPr>
        <p:spPr>
          <a:xfrm>
            <a:off x="4800600" y="3310128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8 SQL examples + text instructions = growing maintenance burden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9"/>
          <p:cNvSpPr/>
          <p:nvPr/>
        </p:nvSpPr>
        <p:spPr>
          <a:xfrm>
            <a:off x="4800600" y="3657600"/>
            <a:ext cx="4059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✗  Every new KPI requires a new SQL example — does not scale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228600" y="4389120"/>
            <a:ext cx="8686800" cy="329184"/>
          </a:xfrm>
          <a:prstGeom prst="rect">
            <a:avLst/>
          </a:prstGeom>
          <a:solidFill>
            <a:srgbClr val="1A305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9"/>
          <p:cNvSpPr/>
          <p:nvPr/>
        </p:nvSpPr>
        <p:spPr>
          <a:xfrm>
            <a:off x="347472" y="4389120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💡  100% achieved — confirmed by Databricks blog. But the context stack is now complex and brittle. This is the exact problem Metric Views were built to solve.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9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solidFill>
            <a:srgbClr val="22C55E">
              <a:alpha val="8196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9"/>
          <p:cNvSpPr/>
          <p:nvPr/>
        </p:nvSpPr>
        <p:spPr>
          <a:xfrm>
            <a:off x="7406640" y="438912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Next: Metric View →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0" y="4791456"/>
            <a:ext cx="9144000" cy="347472"/>
          </a:xfrm>
          <a:prstGeom prst="rect">
            <a:avLst/>
          </a:prstGeom>
          <a:solidFill>
            <a:srgbClr val="080F1E"/>
          </a:solidFill>
          <a:ln cap="flat" cmpd="sng" w="12700">
            <a:solidFill>
              <a:srgbClr val="080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9"/>
          <p:cNvSpPr/>
          <p:nvPr/>
        </p:nvSpPr>
        <p:spPr>
          <a:xfrm>
            <a:off x="886968" y="4910328"/>
            <a:ext cx="932688" cy="2743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9"/>
          <p:cNvSpPr/>
          <p:nvPr/>
        </p:nvSpPr>
        <p:spPr>
          <a:xfrm>
            <a:off x="685800" y="4846320"/>
            <a:ext cx="201168" cy="20116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9"/>
          <p:cNvSpPr/>
          <p:nvPr/>
        </p:nvSpPr>
        <p:spPr>
          <a:xfrm>
            <a:off x="57607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I0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9"/>
          <p:cNvSpPr/>
          <p:nvPr/>
        </p:nvSpPr>
        <p:spPr>
          <a:xfrm>
            <a:off x="57607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9"/>
          <p:cNvSpPr/>
          <p:nvPr/>
        </p:nvSpPr>
        <p:spPr>
          <a:xfrm>
            <a:off x="2020824" y="4910328"/>
            <a:ext cx="932688" cy="274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9"/>
          <p:cNvSpPr/>
          <p:nvPr/>
        </p:nvSpPr>
        <p:spPr>
          <a:xfrm>
            <a:off x="1819656" y="4846320"/>
            <a:ext cx="201168" cy="20116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9"/>
          <p:cNvSpPr/>
          <p:nvPr/>
        </p:nvSpPr>
        <p:spPr>
          <a:xfrm>
            <a:off x="170992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9"/>
          <p:cNvSpPr/>
          <p:nvPr/>
        </p:nvSpPr>
        <p:spPr>
          <a:xfrm>
            <a:off x="170992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9"/>
          <p:cNvSpPr/>
          <p:nvPr/>
        </p:nvSpPr>
        <p:spPr>
          <a:xfrm>
            <a:off x="3154680" y="4910328"/>
            <a:ext cx="932688" cy="274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2953512" y="4846320"/>
            <a:ext cx="201168" cy="201168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9"/>
          <p:cNvSpPr/>
          <p:nvPr/>
        </p:nvSpPr>
        <p:spPr>
          <a:xfrm>
            <a:off x="2843784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I2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9"/>
          <p:cNvSpPr/>
          <p:nvPr/>
        </p:nvSpPr>
        <p:spPr>
          <a:xfrm>
            <a:off x="2843784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9"/>
          <p:cNvSpPr/>
          <p:nvPr/>
        </p:nvSpPr>
        <p:spPr>
          <a:xfrm>
            <a:off x="4288536" y="4910328"/>
            <a:ext cx="932688" cy="27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4087368" y="4846320"/>
            <a:ext cx="201168" cy="20116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9"/>
          <p:cNvSpPr/>
          <p:nvPr/>
        </p:nvSpPr>
        <p:spPr>
          <a:xfrm>
            <a:off x="3977640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9"/>
          <p:cNvSpPr/>
          <p:nvPr/>
        </p:nvSpPr>
        <p:spPr>
          <a:xfrm>
            <a:off x="3977640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54%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9"/>
          <p:cNvSpPr/>
          <p:nvPr/>
        </p:nvSpPr>
        <p:spPr>
          <a:xfrm>
            <a:off x="5422392" y="4910328"/>
            <a:ext cx="932688" cy="2743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5221224" y="4846320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9"/>
          <p:cNvSpPr/>
          <p:nvPr/>
        </p:nvSpPr>
        <p:spPr>
          <a:xfrm>
            <a:off x="5111496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I4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9"/>
          <p:cNvSpPr/>
          <p:nvPr/>
        </p:nvSpPr>
        <p:spPr>
          <a:xfrm>
            <a:off x="5111496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77%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9"/>
          <p:cNvSpPr/>
          <p:nvPr/>
        </p:nvSpPr>
        <p:spPr>
          <a:xfrm>
            <a:off x="6556248" y="4910328"/>
            <a:ext cx="932688" cy="27432"/>
          </a:xfrm>
          <a:prstGeom prst="rect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6355080" y="4846320"/>
            <a:ext cx="201168" cy="20116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6245352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I5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6245352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7488936" y="4846320"/>
            <a:ext cx="201168" cy="201168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1E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7379208" y="482803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MV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7379208" y="5010912"/>
            <a:ext cx="4206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A55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263A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g39665b7da5f_0_60"/>
          <p:cNvPicPr preferRelativeResize="0"/>
          <p:nvPr/>
        </p:nvPicPr>
        <p:blipFill rotWithShape="1">
          <a:blip r:embed="rId3">
            <a:alphaModFix/>
          </a:blip>
          <a:srcRect b="0" l="560" r="-560" t="0"/>
          <a:stretch/>
        </p:blipFill>
        <p:spPr>
          <a:xfrm>
            <a:off x="0" y="0"/>
            <a:ext cx="9144000" cy="508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g39665b7da5f_0_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775" y="1333100"/>
            <a:ext cx="4233625" cy="29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C36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0D1"/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Practices for Production-Ready Genie Spaces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1"/>
          <p:cNvSpPr/>
          <p:nvPr/>
        </p:nvSpPr>
        <p:spPr>
          <a:xfrm>
            <a:off x="457200" y="67665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Lessons from the 6-iteration journey — ordered by impact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1"/>
          <p:cNvSpPr/>
          <p:nvPr/>
        </p:nvSpPr>
        <p:spPr>
          <a:xfrm>
            <a:off x="274320" y="1033272"/>
            <a:ext cx="8613648" cy="621792"/>
          </a:xfrm>
          <a:prstGeom prst="rect">
            <a:avLst/>
          </a:prstGeom>
          <a:solidFill>
            <a:srgbClr val="00C0D1">
              <a:alpha val="90196"/>
            </a:srgbClr>
          </a:solidFill>
          <a:ln cap="flat" cmpd="sng" w="2285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1"/>
          <p:cNvSpPr/>
          <p:nvPr/>
        </p:nvSpPr>
        <p:spPr>
          <a:xfrm>
            <a:off x="274320" y="1033272"/>
            <a:ext cx="548640" cy="621792"/>
          </a:xfrm>
          <a:prstGeom prst="rect">
            <a:avLst/>
          </a:prstGeom>
          <a:solidFill>
            <a:srgbClr val="00C0D1"/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1"/>
          <p:cNvSpPr/>
          <p:nvPr/>
        </p:nvSpPr>
        <p:spPr>
          <a:xfrm>
            <a:off x="274320" y="1033272"/>
            <a:ext cx="548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1"/>
          <p:cNvSpPr/>
          <p:nvPr/>
        </p:nvSpPr>
        <p:spPr>
          <a:xfrm>
            <a:off x="914400" y="1060704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 #1 BEST PRACTICE: Use Metric Views as your primary Genie context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1"/>
          <p:cNvSpPr/>
          <p:nvPr/>
        </p:nvSpPr>
        <p:spPr>
          <a:xfrm>
            <a:off x="914400" y="1344168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A single Metric View replaces tables + SQL examples + instructions in one governed YAML. Highest ROI for accuracy, consistency &amp; maintainability.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1"/>
          <p:cNvSpPr/>
          <p:nvPr/>
        </p:nvSpPr>
        <p:spPr>
          <a:xfrm>
            <a:off x="6894576" y="1069848"/>
            <a:ext cx="1956816" cy="530352"/>
          </a:xfrm>
          <a:prstGeom prst="rect">
            <a:avLst/>
          </a:prstGeom>
          <a:solidFill>
            <a:srgbClr val="00C0D1"/>
          </a:solidFill>
          <a:ln cap="flat" cmpd="sng" w="12700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1"/>
          <p:cNvSpPr/>
          <p:nvPr/>
        </p:nvSpPr>
        <p:spPr>
          <a:xfrm>
            <a:off x="6894576" y="1069848"/>
            <a:ext cx="19568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Metric Views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Priority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1"/>
          <p:cNvSpPr/>
          <p:nvPr/>
        </p:nvSpPr>
        <p:spPr>
          <a:xfrm>
            <a:off x="274320" y="1783080"/>
            <a:ext cx="4169664" cy="713232"/>
          </a:xfrm>
          <a:prstGeom prst="rect">
            <a:avLst/>
          </a:prstGeom>
          <a:solidFill>
            <a:srgbClr val="1A3057"/>
          </a:solidFill>
          <a:ln cap="flat" cmpd="sng" w="101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4" name="Google Shape;5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4" y="19933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1"/>
          <p:cNvSpPr/>
          <p:nvPr/>
        </p:nvSpPr>
        <p:spPr>
          <a:xfrm>
            <a:off x="731520" y="18470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with Metadata First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1"/>
          <p:cNvSpPr/>
          <p:nvPr/>
        </p:nvSpPr>
        <p:spPr>
          <a:xfrm>
            <a:off x="731520" y="2121408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Unity Catalog descriptions are foundational. Invest in table comments and column names before anything else — poor naming blocks every query.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1"/>
          <p:cNvSpPr/>
          <p:nvPr/>
        </p:nvSpPr>
        <p:spPr>
          <a:xfrm>
            <a:off x="274320" y="2578608"/>
            <a:ext cx="4169664" cy="713232"/>
          </a:xfrm>
          <a:prstGeom prst="rect">
            <a:avLst/>
          </a:prstGeom>
          <a:solidFill>
            <a:srgbClr val="1A3057"/>
          </a:solidFill>
          <a:ln cap="flat" cmpd="sng" w="101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8" name="Google Shape;5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" y="27889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1"/>
          <p:cNvSpPr/>
          <p:nvPr/>
        </p:nvSpPr>
        <p:spPr>
          <a:xfrm>
            <a:off x="731520" y="264261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PK/FK Relationships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731520" y="2916936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Explicit foreign keys eliminate join guesswork. Without them, Genie picks wrong join columns across tables with similar-sounding names.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1"/>
          <p:cNvSpPr/>
          <p:nvPr/>
        </p:nvSpPr>
        <p:spPr>
          <a:xfrm>
            <a:off x="274320" y="3374136"/>
            <a:ext cx="4169664" cy="713232"/>
          </a:xfrm>
          <a:prstGeom prst="rect">
            <a:avLst/>
          </a:prstGeom>
          <a:solidFill>
            <a:srgbClr val="1A3057"/>
          </a:solidFill>
          <a:ln cap="flat" cmpd="sng" w="101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2" name="Google Shape;59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4904" y="35844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1"/>
          <p:cNvSpPr/>
          <p:nvPr/>
        </p:nvSpPr>
        <p:spPr>
          <a:xfrm>
            <a:off x="731520" y="343814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 Value Sampling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1"/>
          <p:cNvSpPr/>
          <p:nvPr/>
        </p:nvSpPr>
        <p:spPr>
          <a:xfrm>
            <a:off x="731520" y="371246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Sample categorical columns (order status, priority, region) so Genie uses real data literals, not plausible-sounding fabrications.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1"/>
          <p:cNvSpPr/>
          <p:nvPr/>
        </p:nvSpPr>
        <p:spPr>
          <a:xfrm>
            <a:off x="4617720" y="1783080"/>
            <a:ext cx="4169664" cy="713232"/>
          </a:xfrm>
          <a:prstGeom prst="rect">
            <a:avLst/>
          </a:prstGeom>
          <a:solidFill>
            <a:srgbClr val="1A3057"/>
          </a:solidFill>
          <a:ln cap="flat" cmpd="sng" w="101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6" name="Google Shape;59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8304" y="19933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11"/>
          <p:cNvSpPr/>
          <p:nvPr/>
        </p:nvSpPr>
        <p:spPr>
          <a:xfrm>
            <a:off x="5074920" y="18470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Example SQL for KPIs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1"/>
          <p:cNvSpPr/>
          <p:nvPr/>
        </p:nvSpPr>
        <p:spPr>
          <a:xfrm>
            <a:off x="5074920" y="2121408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Gold-standard queries for complex aggregations are the single biggest accuracy lift. Model your domain KPIs explicitly — don't expect Genie to guess.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4617720" y="2578608"/>
            <a:ext cx="4169664" cy="713232"/>
          </a:xfrm>
          <a:prstGeom prst="rect">
            <a:avLst/>
          </a:prstGeom>
          <a:solidFill>
            <a:srgbClr val="1A3057"/>
          </a:solidFill>
          <a:ln cap="flat" cmpd="sng" w="101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0" name="Google Shape;60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8304" y="27889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1"/>
          <p:cNvSpPr/>
          <p:nvPr/>
        </p:nvSpPr>
        <p:spPr>
          <a:xfrm>
            <a:off x="5074920" y="264261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Text Instructions Last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5074920" y="2916936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Instructions handle edge cases (date semantics, unit formatting) but are brittle. Prefer structured context: Metric Views &gt; SQL examples &gt; instructions.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4617720" y="3374136"/>
            <a:ext cx="4169664" cy="713232"/>
          </a:xfrm>
          <a:prstGeom prst="rect">
            <a:avLst/>
          </a:prstGeom>
          <a:solidFill>
            <a:srgbClr val="1A3057"/>
          </a:solidFill>
          <a:ln cap="flat" cmpd="sng" w="101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4" name="Google Shape;604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8304" y="35844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1"/>
          <p:cNvSpPr/>
          <p:nvPr/>
        </p:nvSpPr>
        <p:spPr>
          <a:xfrm>
            <a:off x="5074920" y="343814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Before You Ship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5074920" y="371246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Run the full benchmark suite after every change. Share the score with stakeholders — an objective number builds more trust than any demo.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237744" y="4788359"/>
            <a:ext cx="8613648" cy="274320"/>
          </a:xfrm>
          <a:prstGeom prst="rect">
            <a:avLst/>
          </a:prstGeom>
          <a:solidFill>
            <a:srgbClr val="080F1E"/>
          </a:solidFill>
          <a:ln cap="flat" cmpd="sng" w="9525">
            <a:solidFill>
              <a:srgbClr val="00C0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402336" y="4846910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⭐ Metric Views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2121408" y="4846910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 SQL Expressions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3840480" y="4846910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→ Example SQL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5559552" y="4846910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 Value Dicts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7278624" y="4846910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→ Instructions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g39665b7da5f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C36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2"/>
          <p:cNvSpPr/>
          <p:nvPr/>
        </p:nvSpPr>
        <p:spPr>
          <a:xfrm>
            <a:off x="457200" y="15544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Limitations &amp; What's Coming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2"/>
          <p:cNvSpPr/>
          <p:nvPr/>
        </p:nvSpPr>
        <p:spPr>
          <a:xfrm>
            <a:off x="457200" y="694944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D1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00C0D1"/>
                </a:solidFill>
                <a:latin typeface="Calibri"/>
                <a:ea typeface="Calibri"/>
                <a:cs typeface="Calibri"/>
                <a:sym typeface="Calibri"/>
              </a:rPr>
              <a:t>Metric Views are in Public Preview — know the gaps before you build.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2"/>
          <p:cNvSpPr/>
          <p:nvPr/>
        </p:nvSpPr>
        <p:spPr>
          <a:xfrm>
            <a:off x="274320" y="1133856"/>
            <a:ext cx="54864" cy="35204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"/>
          <p:cNvSpPr/>
          <p:nvPr/>
        </p:nvSpPr>
        <p:spPr>
          <a:xfrm>
            <a:off x="457200" y="113385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2"/>
          <p:cNvSpPr/>
          <p:nvPr/>
        </p:nvSpPr>
        <p:spPr>
          <a:xfrm>
            <a:off x="457200" y="1572768"/>
            <a:ext cx="182880" cy="182880"/>
          </a:xfrm>
          <a:prstGeom prst="ellipse">
            <a:avLst/>
          </a:prstGeom>
          <a:solidFill>
            <a:srgbClr val="EF4444">
              <a:alpha val="8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2"/>
          <p:cNvSpPr/>
          <p:nvPr/>
        </p:nvSpPr>
        <p:spPr>
          <a:xfrm>
            <a:off x="457200" y="15544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2"/>
          <p:cNvSpPr/>
          <p:nvPr/>
        </p:nvSpPr>
        <p:spPr>
          <a:xfrm>
            <a:off x="731520" y="1499616"/>
            <a:ext cx="3493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fact table only 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2"/>
          <p:cNvSpPr/>
          <p:nvPr/>
        </p:nvSpPr>
        <p:spPr>
          <a:xfrm>
            <a:off x="731520" y="17282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One source per metric view. Multiple facts require separate views or pre-joined SQL.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2"/>
          <p:cNvSpPr/>
          <p:nvPr/>
        </p:nvSpPr>
        <p:spPr>
          <a:xfrm>
            <a:off x="466344" y="2240280"/>
            <a:ext cx="182880" cy="182880"/>
          </a:xfrm>
          <a:prstGeom prst="ellipse">
            <a:avLst/>
          </a:prstGeom>
          <a:solidFill>
            <a:srgbClr val="EF4444">
              <a:alpha val="8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2"/>
          <p:cNvSpPr/>
          <p:nvPr/>
        </p:nvSpPr>
        <p:spPr>
          <a:xfrm>
            <a:off x="466344" y="222199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2"/>
          <p:cNvSpPr/>
          <p:nvPr/>
        </p:nvSpPr>
        <p:spPr>
          <a:xfrm>
            <a:off x="740664" y="2167128"/>
            <a:ext cx="3493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Delta Sharing or data profiling 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"/>
          <p:cNvSpPr/>
          <p:nvPr/>
        </p:nvSpPr>
        <p:spPr>
          <a:xfrm>
            <a:off x="740664" y="2395728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Cannot be shared via Delta Sharing. Catalog Explorer profiling also unsupported.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2"/>
          <p:cNvSpPr/>
          <p:nvPr/>
        </p:nvSpPr>
        <p:spPr>
          <a:xfrm>
            <a:off x="466344" y="2752344"/>
            <a:ext cx="182880" cy="182880"/>
          </a:xfrm>
          <a:prstGeom prst="ellipse">
            <a:avLst/>
          </a:prstGeom>
          <a:solidFill>
            <a:srgbClr val="EF4444">
              <a:alpha val="8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2"/>
          <p:cNvSpPr/>
          <p:nvPr/>
        </p:nvSpPr>
        <p:spPr>
          <a:xfrm>
            <a:off x="466344" y="273405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2"/>
          <p:cNvSpPr/>
          <p:nvPr/>
        </p:nvSpPr>
        <p:spPr>
          <a:xfrm>
            <a:off x="740664" y="2679192"/>
            <a:ext cx="3493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Many-to-many joins unsupported 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2"/>
          <p:cNvSpPr/>
          <p:nvPr/>
        </p:nvSpPr>
        <p:spPr>
          <a:xfrm>
            <a:off x="740664" y="2907792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Joins must be many-to-one. SCD2/calendar joins collapse and return wrong counts.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2"/>
          <p:cNvSpPr/>
          <p:nvPr/>
        </p:nvSpPr>
        <p:spPr>
          <a:xfrm>
            <a:off x="466344" y="3264408"/>
            <a:ext cx="182880" cy="182880"/>
          </a:xfrm>
          <a:prstGeom prst="ellipse">
            <a:avLst/>
          </a:prstGeom>
          <a:solidFill>
            <a:srgbClr val="EF4444">
              <a:alpha val="8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466344" y="32461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2"/>
          <p:cNvSpPr/>
          <p:nvPr/>
        </p:nvSpPr>
        <p:spPr>
          <a:xfrm>
            <a:off x="740664" y="3191256"/>
            <a:ext cx="3493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Requires Runtime 17.2+ / SQL 2025.30 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740664" y="341985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v1.1 semantic metadata needs Preview channel warehouse. Older runtimes lack full support.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4700016" y="1133856"/>
            <a:ext cx="54864" cy="352044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4873752" y="1133856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ON THE ROADMAP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4892040" y="1572768"/>
            <a:ext cx="182880" cy="182880"/>
          </a:xfrm>
          <a:prstGeom prst="ellipse">
            <a:avLst/>
          </a:prstGeom>
          <a:solidFill>
            <a:srgbClr val="FF6B35">
              <a:alpha val="80000"/>
            </a:srgbClr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4892040" y="15544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5166360" y="149961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 native integration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7863840" y="1536192"/>
            <a:ext cx="987552" cy="182880"/>
          </a:xfrm>
          <a:prstGeom prst="rect">
            <a:avLst/>
          </a:prstGeom>
          <a:solidFill>
            <a:srgbClr val="FF6B35">
              <a:alpha val="74901"/>
            </a:srgbClr>
          </a:solidFill>
          <a:ln cap="flat" cmpd="sng" w="95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2"/>
          <p:cNvSpPr/>
          <p:nvPr/>
        </p:nvSpPr>
        <p:spPr>
          <a:xfrm>
            <a:off x="7863840" y="1536192"/>
            <a:ext cx="987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BETA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5166360" y="173736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Microsoft + Databricks working on MEASURE() support. Tabular Editor Semantic Bridge available now.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4892040" y="2084832"/>
            <a:ext cx="182880" cy="182880"/>
          </a:xfrm>
          <a:prstGeom prst="ellipse">
            <a:avLst/>
          </a:prstGeom>
          <a:solidFill>
            <a:srgbClr val="F59E0B">
              <a:alpha val="8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4892040" y="206654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2"/>
          <p:cNvSpPr/>
          <p:nvPr/>
        </p:nvSpPr>
        <p:spPr>
          <a:xfrm>
            <a:off x="5166360" y="201168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dbt-databricks native support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7863840" y="2048256"/>
            <a:ext cx="987552" cy="182880"/>
          </a:xfrm>
          <a:prstGeom prst="rect">
            <a:avLst/>
          </a:prstGeom>
          <a:solidFill>
            <a:srgbClr val="F59E0B">
              <a:alpha val="7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7863840" y="2048256"/>
            <a:ext cx="987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In-Progress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5166360" y="2249424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Open feature request for metric_view as first-class materialization type in dbt-databricks.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2"/>
          <p:cNvSpPr/>
          <p:nvPr/>
        </p:nvSpPr>
        <p:spPr>
          <a:xfrm>
            <a:off x="4892040" y="2596896"/>
            <a:ext cx="182880" cy="182880"/>
          </a:xfrm>
          <a:prstGeom prst="ellipse">
            <a:avLst/>
          </a:prstGeom>
          <a:solidFill>
            <a:srgbClr val="22C55E">
              <a:alpha val="8000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4892040" y="257860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5166360" y="252374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Low-code Metric View authoring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7863840" y="2560320"/>
            <a:ext cx="987552" cy="182880"/>
          </a:xfrm>
          <a:prstGeom prst="rect">
            <a:avLst/>
          </a:prstGeom>
          <a:solidFill>
            <a:srgbClr val="22C55E">
              <a:alpha val="74901"/>
            </a:srgbClr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7863840" y="2560320"/>
            <a:ext cx="987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Coming Soon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2"/>
          <p:cNvSpPr/>
          <p:nvPr/>
        </p:nvSpPr>
        <p:spPr>
          <a:xfrm>
            <a:off x="5166360" y="276148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Drag-and-drop editor — no YAML required. Announced in the Oct 2025 roadmap.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4892040" y="3108960"/>
            <a:ext cx="182880" cy="182880"/>
          </a:xfrm>
          <a:prstGeom prst="ellipse">
            <a:avLst/>
          </a:prstGeom>
          <a:solidFill>
            <a:srgbClr val="3B82F6">
              <a:alpha val="8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2"/>
          <p:cNvSpPr/>
          <p:nvPr/>
        </p:nvSpPr>
        <p:spPr>
          <a:xfrm>
            <a:off x="4892040" y="309067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5166360" y="3035808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Tableau native integration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2"/>
          <p:cNvSpPr/>
          <p:nvPr/>
        </p:nvSpPr>
        <p:spPr>
          <a:xfrm>
            <a:off x="7863840" y="3072384"/>
            <a:ext cx="987552" cy="182880"/>
          </a:xfrm>
          <a:prstGeom prst="rect">
            <a:avLst/>
          </a:prstGeom>
          <a:solidFill>
            <a:srgbClr val="3B82F6">
              <a:alpha val="74901"/>
            </a:srgbClr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2"/>
          <p:cNvSpPr/>
          <p:nvPr/>
        </p:nvSpPr>
        <p:spPr>
          <a:xfrm>
            <a:off x="7863840" y="3072384"/>
            <a:ext cx="987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5166360" y="327355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Tableau signalled plans for native Metric View support. Currently works via standard SQL.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2"/>
          <p:cNvSpPr/>
          <p:nvPr/>
        </p:nvSpPr>
        <p:spPr>
          <a:xfrm>
            <a:off x="4892040" y="3621024"/>
            <a:ext cx="182880" cy="182880"/>
          </a:xfrm>
          <a:prstGeom prst="ellipse">
            <a:avLst/>
          </a:prstGeom>
          <a:solidFill>
            <a:srgbClr val="8B5CF6">
              <a:alpha val="8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2"/>
          <p:cNvSpPr/>
          <p:nvPr/>
        </p:nvSpPr>
        <p:spPr>
          <a:xfrm>
            <a:off x="4892040" y="360273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2"/>
          <p:cNvSpPr/>
          <p:nvPr/>
        </p:nvSpPr>
        <p:spPr>
          <a:xfrm>
            <a:off x="5166360" y="354787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Materialization GA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7863840" y="3584448"/>
            <a:ext cx="987552" cy="182880"/>
          </a:xfrm>
          <a:prstGeom prst="rect">
            <a:avLst/>
          </a:prstGeom>
          <a:solidFill>
            <a:srgbClr val="8B5CF6">
              <a:alpha val="74901"/>
            </a:srgbClr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2"/>
          <p:cNvSpPr/>
          <p:nvPr/>
        </p:nvSpPr>
        <p:spPr>
          <a:xfrm>
            <a:off x="7863840" y="3584448"/>
            <a:ext cx="987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Experimental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2"/>
          <p:cNvSpPr/>
          <p:nvPr/>
        </p:nvSpPr>
        <p:spPr>
          <a:xfrm>
            <a:off x="5166360" y="378561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Pre-computed aggregations via Lakeflow Pipelines — currently Experimental.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2"/>
          <p:cNvSpPr/>
          <p:nvPr/>
        </p:nvSpPr>
        <p:spPr>
          <a:xfrm>
            <a:off x="4892040" y="4133088"/>
            <a:ext cx="182880" cy="182880"/>
          </a:xfrm>
          <a:prstGeom prst="ellipse">
            <a:avLst/>
          </a:prstGeom>
          <a:solidFill>
            <a:srgbClr val="8B5CF6">
              <a:alpha val="8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2"/>
          <p:cNvSpPr/>
          <p:nvPr/>
        </p:nvSpPr>
        <p:spPr>
          <a:xfrm>
            <a:off x="4892040" y="41148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2"/>
          <p:cNvSpPr/>
          <p:nvPr/>
        </p:nvSpPr>
        <p:spPr>
          <a:xfrm>
            <a:off x="5166360" y="405993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 measures GA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2"/>
          <p:cNvSpPr/>
          <p:nvPr/>
        </p:nvSpPr>
        <p:spPr>
          <a:xfrm>
            <a:off x="7863840" y="4096512"/>
            <a:ext cx="987552" cy="182880"/>
          </a:xfrm>
          <a:prstGeom prst="rect">
            <a:avLst/>
          </a:prstGeom>
          <a:solidFill>
            <a:srgbClr val="8B5CF6">
              <a:alpha val="74901"/>
            </a:srgbClr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2"/>
          <p:cNvSpPr/>
          <p:nvPr/>
        </p:nvSpPr>
        <p:spPr>
          <a:xfrm>
            <a:off x="7863840" y="4096512"/>
            <a:ext cx="987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Experimental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2"/>
          <p:cNvSpPr/>
          <p:nvPr/>
        </p:nvSpPr>
        <p:spPr>
          <a:xfrm>
            <a:off x="5166360" y="42976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Rolling averages, cumulative totals, period-over-period — currently Experimental.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2" name="Google Shape;682;p12"/>
          <p:cNvCxnSpPr/>
          <p:nvPr/>
        </p:nvCxnSpPr>
        <p:spPr>
          <a:xfrm>
            <a:off x="4517136" y="1133856"/>
            <a:ext cx="0" cy="3520440"/>
          </a:xfrm>
          <a:prstGeom prst="straightConnector1">
            <a:avLst/>
          </a:prstGeom>
          <a:noFill/>
          <a:ln cap="flat" cmpd="sng" w="12700">
            <a:solidFill>
              <a:srgbClr val="1A305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2026-03-12T02:59:48Z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608d83-f952-409d-b7c5-456515bbbf5a_Enabled">
    <vt:lpwstr>true</vt:lpwstr>
  </property>
  <property fmtid="{D5CDD505-2E9C-101B-9397-08002B2CF9AE}" pid="3" name="MSIP_Label_89608d83-f952-409d-b7c5-456515bbbf5a_SetDate">
    <vt:lpwstr>2026-03-13T13:07:46Z</vt:lpwstr>
  </property>
  <property fmtid="{D5CDD505-2E9C-101B-9397-08002B2CF9AE}" pid="4" name="MSIP_Label_89608d83-f952-409d-b7c5-456515bbbf5a_Method">
    <vt:lpwstr>Privileged</vt:lpwstr>
  </property>
  <property fmtid="{D5CDD505-2E9C-101B-9397-08002B2CF9AE}" pid="5" name="MSIP_Label_89608d83-f952-409d-b7c5-456515bbbf5a_Name">
    <vt:lpwstr>Public</vt:lpwstr>
  </property>
  <property fmtid="{D5CDD505-2E9C-101B-9397-08002B2CF9AE}" pid="6" name="MSIP_Label_89608d83-f952-409d-b7c5-456515bbbf5a_SiteId">
    <vt:lpwstr>31a2fec0-266b-4c67-b56e-2796d8f59c36</vt:lpwstr>
  </property>
  <property fmtid="{D5CDD505-2E9C-101B-9397-08002B2CF9AE}" pid="7" name="MSIP_Label_89608d83-f952-409d-b7c5-456515bbbf5a_ActionId">
    <vt:lpwstr>c8bc8c58-cc56-47e9-8d69-537fbc609ece</vt:lpwstr>
  </property>
  <property fmtid="{D5CDD505-2E9C-101B-9397-08002B2CF9AE}" pid="8" name="MSIP_Label_89608d83-f952-409d-b7c5-456515bbbf5a_ContentBits">
    <vt:lpwstr>0</vt:lpwstr>
  </property>
  <property fmtid="{D5CDD505-2E9C-101B-9397-08002B2CF9AE}" pid="9" name="MSIP_Label_89608d83-f952-409d-b7c5-456515bbbf5a_Tag">
    <vt:lpwstr>10, 0, 1, 1</vt:lpwstr>
  </property>
</Properties>
</file>
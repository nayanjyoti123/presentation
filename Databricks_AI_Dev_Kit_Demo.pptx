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30 sec. Welcome — today's goal is to show a developer brand new to Databricks how the AI Dev Kit changes day-to-day development, using GitHub Copilot as the example editor. Frame this as: same Copilot you already use, now grounded in our actual Databricks workspace. Total runtime target: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30 sec. Set expectations on pacing — most of the value is in the live demo block, so the conceptual slides before it stay quick and non-technical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1.5 min. This is the world most people already know from using ChatGPT or Copilot generically. The pain wasn't Copilot — it's that Copilot had zero idea Databricks or your data existed. Keep this conversational, no need to define Unity Catalog or Spark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1.5 min. Walk through this quickly — most newbies will nod because they've lived steps 1-3 with any AI tool. Step 5 is the killer: errors only show up after you've already left the AI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 min. Keep this conceptual — don't mention MCP, skills files, or package names yet. The audience just needs the 'why it's different' before they see it work live with Copilot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1.5 min. Mirror the previous slide deliberately — same six-step shape, completely different experience. The big shift is step 4: the assistant reaches into the workspace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1.5 min. Walk left to right per row, not top to bottom — it reads better live. Slow down on Governance: this isn't just 'faster', the kit doesn't bypass your access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 min — this is the centerpiece. If running it live, actually type the prompt into Copilot Chat with AI Dev Kit installed and let the audience watch it look things up in real time — that's the 'aha' moment for newbies.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 min. This is the 'and more' slide — reassure newbies that the kit isn't a one-trick pony for pipelines, it spans the whole platform surface area. Move quickly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1.5 min. Lead with governance for a newbie audience — they'll worry 'does this let an AI run wild on prod data?' Answer: no, it inherits your existing Unity Catalog permissions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1.5 min. Close with the repo link and a concrete next step: pick one real ticket this week and try it with AI Dev Kit + Copilot instead of the old copy-paste flow. Mention it also supports Claude Code, Cursor, Codex, and Gemini CLI — Copilot is just today's example because that's what most of the team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B"/>
        </a:solidFill>
      </p:bgPr>
    </p:bg>
    <p:spTree>
      <p:nvGrpSpPr>
        <p:cNvPr id="1" name=""/>
        <p:cNvGrpSpPr/>
        <p:nvPr/>
      </p:nvGrpSpPr>
      <p:grpSpPr>
        <a:xfrm>
          <a:off x="0" y="0"/>
          <a:ext cx="0" cy="0"/>
          <a:chOff x="0" y="0"/>
          <a:chExt cx="0" cy="0"/>
        </a:xfrm>
      </p:grpSpPr>
      <p:sp>
        <p:nvSpPr>
          <p:cNvPr id="2" name="Shape 0"/>
          <p:cNvSpPr/>
          <p:nvPr/>
        </p:nvSpPr>
        <p:spPr>
          <a:xfrm>
            <a:off x="640080" y="640080"/>
            <a:ext cx="640080" cy="640080"/>
          </a:xfrm>
          <a:prstGeom prst="ellipse">
            <a:avLst/>
          </a:prstGeom>
          <a:solidFill>
            <a:srgbClr val="2A3146"/>
          </a:solidFill>
          <a:ln/>
        </p:spPr>
      </p:sp>
      <p:pic>
        <p:nvPicPr>
          <p:cNvPr id="3" name="Image 0" descr="preencoded.png">    </p:cNvPr>
          <p:cNvPicPr>
            <a:picLocks noChangeAspect="1"/>
          </p:cNvPicPr>
          <p:nvPr/>
        </p:nvPicPr>
        <p:blipFill>
          <a:blip r:embed="rId1"/>
          <a:stretch>
            <a:fillRect/>
          </a:stretch>
        </p:blipFill>
        <p:spPr>
          <a:xfrm>
            <a:off x="723290" y="723290"/>
            <a:ext cx="473659" cy="473659"/>
          </a:xfrm>
          <a:prstGeom prst="rect">
            <a:avLst/>
          </a:prstGeom>
        </p:spPr>
      </p:pic>
      <p:sp>
        <p:nvSpPr>
          <p:cNvPr id="4" name="Text 1"/>
          <p:cNvSpPr/>
          <p:nvPr/>
        </p:nvSpPr>
        <p:spPr>
          <a:xfrm>
            <a:off x="457200" y="1554480"/>
            <a:ext cx="8229600" cy="320040"/>
          </a:xfrm>
          <a:prstGeom prst="rect">
            <a:avLst/>
          </a:prstGeom>
          <a:noFill/>
          <a:ln/>
        </p:spPr>
        <p:txBody>
          <a:bodyPr wrap="square" lIns="0" tIns="0" rIns="0" bIns="0" rtlCol="0" anchor="ctr"/>
          <a:lstStyle/>
          <a:p>
            <a:pPr indent="0" marL="0">
              <a:buNone/>
            </a:pPr>
            <a:r>
              <a:rPr lang="en-US" sz="1300" b="1" spc="200" kern="0" dirty="0">
                <a:solidFill>
                  <a:srgbClr val="FF3621"/>
                </a:solidFill>
                <a:latin typeface="Calibri" pitchFamily="34" charset="0"/>
                <a:ea typeface="Calibri" pitchFamily="34" charset="-122"/>
                <a:cs typeface="Calibri" pitchFamily="34" charset="-120"/>
              </a:rPr>
              <a:t>PLATFORM ENGINEERING DEMO</a:t>
            </a:r>
            <a:endParaRPr lang="en-US" sz="1300" dirty="0"/>
          </a:p>
        </p:txBody>
      </p:sp>
      <p:sp>
        <p:nvSpPr>
          <p:cNvPr id="5" name="Text 2"/>
          <p:cNvSpPr/>
          <p:nvPr/>
        </p:nvSpPr>
        <p:spPr>
          <a:xfrm>
            <a:off x="457200" y="1874520"/>
            <a:ext cx="8229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Databricks AI Dev Kit</a:t>
            </a:r>
            <a:endParaRPr lang="en-US" sz="4400" dirty="0"/>
          </a:p>
        </p:txBody>
      </p:sp>
      <p:sp>
        <p:nvSpPr>
          <p:cNvPr id="6" name="Text 3"/>
          <p:cNvSpPr/>
          <p:nvPr/>
        </p:nvSpPr>
        <p:spPr>
          <a:xfrm>
            <a:off x="457200" y="2788920"/>
            <a:ext cx="7772400" cy="548640"/>
          </a:xfrm>
          <a:prstGeom prst="rect">
            <a:avLst/>
          </a:prstGeom>
          <a:noFill/>
          <a:ln/>
        </p:spPr>
        <p:txBody>
          <a:bodyPr wrap="square" lIns="0" tIns="0" rIns="0" bIns="0" rtlCol="0" anchor="ctr"/>
          <a:lstStyle/>
          <a:p>
            <a:pPr indent="0" marL="0">
              <a:buNone/>
            </a:pPr>
            <a:r>
              <a:rPr lang="en-US" sz="1700" dirty="0">
                <a:solidFill>
                  <a:srgbClr val="AEB4C2"/>
                </a:solidFill>
                <a:latin typeface="Calibri" pitchFamily="34" charset="0"/>
                <a:ea typeface="Calibri" pitchFamily="34" charset="-122"/>
                <a:cs typeface="Calibri" pitchFamily="34" charset="-120"/>
              </a:rPr>
              <a:t>Turning the AI assistant you already use into a Databricks expert</a:t>
            </a:r>
            <a:endParaRPr lang="en-US" sz="1700" dirty="0"/>
          </a:p>
        </p:txBody>
      </p:sp>
      <p:sp>
        <p:nvSpPr>
          <p:cNvPr id="7" name="Shape 4"/>
          <p:cNvSpPr/>
          <p:nvPr/>
        </p:nvSpPr>
        <p:spPr>
          <a:xfrm>
            <a:off x="457200" y="3520440"/>
            <a:ext cx="3337560" cy="365760"/>
          </a:xfrm>
          <a:prstGeom prst="roundRect">
            <a:avLst>
              <a:gd name="adj" fmla="val 20000"/>
            </a:avLst>
          </a:prstGeom>
          <a:solidFill>
            <a:srgbClr val="2A3146"/>
          </a:solidFill>
          <a:ln/>
        </p:spPr>
      </p:sp>
      <p:sp>
        <p:nvSpPr>
          <p:cNvPr id="8" name="Text 5"/>
          <p:cNvSpPr/>
          <p:nvPr/>
        </p:nvSpPr>
        <p:spPr>
          <a:xfrm>
            <a:off x="457200" y="3520440"/>
            <a:ext cx="33375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GitHub Copilot Edition</a:t>
            </a:r>
            <a:endParaRPr lang="en-US" sz="1100" dirty="0"/>
          </a:p>
        </p:txBody>
      </p:sp>
      <p:sp>
        <p:nvSpPr>
          <p:cNvPr id="9" name="Shape 6"/>
          <p:cNvSpPr/>
          <p:nvPr/>
        </p:nvSpPr>
        <p:spPr>
          <a:xfrm>
            <a:off x="3977640" y="3520440"/>
            <a:ext cx="2103120" cy="365760"/>
          </a:xfrm>
          <a:prstGeom prst="roundRect">
            <a:avLst>
              <a:gd name="adj" fmla="val 20000"/>
            </a:avLst>
          </a:prstGeom>
          <a:solidFill>
            <a:srgbClr val="2A3146"/>
          </a:solidFill>
          <a:ln/>
        </p:spPr>
      </p:sp>
      <p:sp>
        <p:nvSpPr>
          <p:cNvPr id="10" name="Text 7"/>
          <p:cNvSpPr/>
          <p:nvPr/>
        </p:nvSpPr>
        <p:spPr>
          <a:xfrm>
            <a:off x="3977640" y="3520440"/>
            <a:ext cx="21031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For newcomers</a:t>
            </a:r>
            <a:endParaRPr lang="en-US" sz="1100" dirty="0"/>
          </a:p>
        </p:txBody>
      </p:sp>
      <p:sp>
        <p:nvSpPr>
          <p:cNvPr id="11" name="Shape 8"/>
          <p:cNvSpPr/>
          <p:nvPr/>
        </p:nvSpPr>
        <p:spPr>
          <a:xfrm>
            <a:off x="6263640" y="3520440"/>
            <a:ext cx="1143000" cy="365760"/>
          </a:xfrm>
          <a:prstGeom prst="roundRect">
            <a:avLst>
              <a:gd name="adj" fmla="val 20000"/>
            </a:avLst>
          </a:prstGeom>
          <a:solidFill>
            <a:srgbClr val="2A3146"/>
          </a:solidFill>
          <a:ln/>
        </p:spPr>
      </p:sp>
      <p:sp>
        <p:nvSpPr>
          <p:cNvPr id="12" name="Text 9"/>
          <p:cNvSpPr/>
          <p:nvPr/>
        </p:nvSpPr>
        <p:spPr>
          <a:xfrm>
            <a:off x="6263640" y="3520440"/>
            <a:ext cx="11430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15 min</a:t>
            </a:r>
            <a:endParaRPr lang="en-US" sz="1100" dirty="0"/>
          </a:p>
        </p:txBody>
      </p:sp>
      <p:sp>
        <p:nvSpPr>
          <p:cNvPr id="13" name="Text 10"/>
          <p:cNvSpPr/>
          <p:nvPr/>
        </p:nvSpPr>
        <p:spPr>
          <a:xfrm>
            <a:off x="457200" y="4526280"/>
            <a:ext cx="5486400" cy="274320"/>
          </a:xfrm>
          <a:prstGeom prst="rect">
            <a:avLst/>
          </a:prstGeom>
          <a:noFill/>
          <a:ln/>
        </p:spPr>
        <p:txBody>
          <a:bodyPr wrap="square" lIns="0" tIns="0" rIns="0" bIns="0" rtlCol="0" anchor="ctr"/>
          <a:lstStyle/>
          <a:p>
            <a:pPr indent="0" marL="0">
              <a:buNone/>
            </a:pPr>
            <a:r>
              <a:rPr lang="en-US" sz="1100" dirty="0">
                <a:solidFill>
                  <a:srgbClr val="AEB4C2"/>
                </a:solidFill>
                <a:latin typeface="Calibri" pitchFamily="34" charset="0"/>
                <a:ea typeface="Calibri" pitchFamily="34" charset="-122"/>
                <a:cs typeface="Calibri" pitchFamily="34" charset="-120"/>
              </a:rPr>
              <a:t>Presented by: Platform Admin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B1F2B"/>
                </a:solidFill>
                <a:latin typeface="Cambria" pitchFamily="34" charset="0"/>
                <a:ea typeface="Cambria" pitchFamily="34" charset="-122"/>
                <a:cs typeface="Cambria" pitchFamily="34" charset="-120"/>
              </a:rPr>
              <a:t>What We'll Cover</a:t>
            </a:r>
            <a:endParaRPr lang="en-US" sz="30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A 15-minute walkthrough — live demo included.</a:t>
            </a:r>
            <a:endParaRPr lang="en-US" sz="1400" dirty="0"/>
          </a:p>
        </p:txBody>
      </p:sp>
      <p:sp>
        <p:nvSpPr>
          <p:cNvPr id="4" name="Shape 2"/>
          <p:cNvSpPr/>
          <p:nvPr/>
        </p:nvSpPr>
        <p:spPr>
          <a:xfrm>
            <a:off x="548640" y="1508760"/>
            <a:ext cx="420624" cy="420624"/>
          </a:xfrm>
          <a:prstGeom prst="ellipse">
            <a:avLst/>
          </a:prstGeom>
          <a:solidFill>
            <a:srgbClr val="FFE3DC"/>
          </a:solidFill>
          <a:ln/>
        </p:spPr>
      </p:sp>
      <p:pic>
        <p:nvPicPr>
          <p:cNvPr id="5" name="Image 0" descr="preencoded.png">    </p:cNvPr>
          <p:cNvPicPr>
            <a:picLocks noChangeAspect="1"/>
          </p:cNvPicPr>
          <p:nvPr/>
        </p:nvPicPr>
        <p:blipFill>
          <a:blip r:embed="rId1"/>
          <a:stretch>
            <a:fillRect/>
          </a:stretch>
        </p:blipFill>
        <p:spPr>
          <a:xfrm>
            <a:off x="603321" y="1563441"/>
            <a:ext cx="311262" cy="311262"/>
          </a:xfrm>
          <a:prstGeom prst="rect">
            <a:avLst/>
          </a:prstGeom>
        </p:spPr>
      </p:pic>
      <p:sp>
        <p:nvSpPr>
          <p:cNvPr id="6" name="Text 3"/>
          <p:cNvSpPr/>
          <p:nvPr/>
        </p:nvSpPr>
        <p:spPr>
          <a:xfrm>
            <a:off x="1143000" y="1508760"/>
            <a:ext cx="5852160" cy="420624"/>
          </a:xfrm>
          <a:prstGeom prst="rect">
            <a:avLst/>
          </a:prstGeom>
          <a:noFill/>
          <a:ln/>
        </p:spPr>
        <p:txBody>
          <a:bodyPr wrap="square" lIns="0" tIns="0" rIns="0" bIns="0" rtlCol="0" anchor="ctr"/>
          <a:lstStyle/>
          <a:p>
            <a:pPr indent="0" marL="0">
              <a:buNone/>
            </a:pPr>
            <a:r>
              <a:rPr lang="en-US" sz="1500" dirty="0">
                <a:solidFill>
                  <a:srgbClr val="1B1F2B"/>
                </a:solidFill>
                <a:latin typeface="Calibri" pitchFamily="34" charset="0"/>
                <a:ea typeface="Calibri" pitchFamily="34" charset="-122"/>
                <a:cs typeface="Calibri" pitchFamily="34" charset="-120"/>
              </a:rPr>
              <a:t>Why Databricks needed a better way to code with AI</a:t>
            </a:r>
            <a:endParaRPr lang="en-US" sz="1500" dirty="0"/>
          </a:p>
        </p:txBody>
      </p:sp>
      <p:sp>
        <p:nvSpPr>
          <p:cNvPr id="7" name="Shape 4"/>
          <p:cNvSpPr/>
          <p:nvPr/>
        </p:nvSpPr>
        <p:spPr>
          <a:xfrm>
            <a:off x="7178040" y="1508760"/>
            <a:ext cx="1051560" cy="420624"/>
          </a:xfrm>
          <a:prstGeom prst="roundRect">
            <a:avLst>
              <a:gd name="adj" fmla="val 50000"/>
            </a:avLst>
          </a:prstGeom>
          <a:solidFill>
            <a:srgbClr val="F4F4F6"/>
          </a:solidFill>
          <a:ln/>
        </p:spPr>
      </p:sp>
      <p:sp>
        <p:nvSpPr>
          <p:cNvPr id="8" name="Text 5"/>
          <p:cNvSpPr/>
          <p:nvPr/>
        </p:nvSpPr>
        <p:spPr>
          <a:xfrm>
            <a:off x="7178040" y="1508760"/>
            <a:ext cx="1051560" cy="420624"/>
          </a:xfrm>
          <a:prstGeom prst="rect">
            <a:avLst/>
          </a:prstGeom>
          <a:noFill/>
          <a:ln/>
        </p:spPr>
        <p:txBody>
          <a:bodyPr wrap="square" lIns="0" tIns="0" rIns="0" bIns="0" rtlCol="0" anchor="ctr"/>
          <a:lstStyle/>
          <a:p>
            <a:pPr algn="ctr" indent="0" marL="0">
              <a:buNone/>
            </a:pPr>
            <a:r>
              <a:rPr lang="en-US" sz="1100" b="1" dirty="0">
                <a:solidFill>
                  <a:srgbClr val="5C6470"/>
                </a:solidFill>
                <a:latin typeface="Calibri" pitchFamily="34" charset="0"/>
                <a:ea typeface="Calibri" pitchFamily="34" charset="-122"/>
                <a:cs typeface="Calibri" pitchFamily="34" charset="-120"/>
              </a:rPr>
              <a:t>3 min</a:t>
            </a:r>
            <a:endParaRPr lang="en-US" sz="1100" dirty="0"/>
          </a:p>
        </p:txBody>
      </p:sp>
      <p:sp>
        <p:nvSpPr>
          <p:cNvPr id="9" name="Shape 6"/>
          <p:cNvSpPr/>
          <p:nvPr/>
        </p:nvSpPr>
        <p:spPr>
          <a:xfrm>
            <a:off x="548640" y="2020824"/>
            <a:ext cx="420624" cy="420624"/>
          </a:xfrm>
          <a:prstGeom prst="ellipse">
            <a:avLst/>
          </a:prstGeom>
          <a:solidFill>
            <a:srgbClr val="FFE3DC"/>
          </a:solidFill>
          <a:ln/>
        </p:spPr>
      </p:sp>
      <p:pic>
        <p:nvPicPr>
          <p:cNvPr id="10" name="Image 1" descr="preencoded.png">    </p:cNvPr>
          <p:cNvPicPr>
            <a:picLocks noChangeAspect="1"/>
          </p:cNvPicPr>
          <p:nvPr/>
        </p:nvPicPr>
        <p:blipFill>
          <a:blip r:embed="rId2"/>
          <a:stretch>
            <a:fillRect/>
          </a:stretch>
        </p:blipFill>
        <p:spPr>
          <a:xfrm>
            <a:off x="603321" y="2075505"/>
            <a:ext cx="311262" cy="311262"/>
          </a:xfrm>
          <a:prstGeom prst="rect">
            <a:avLst/>
          </a:prstGeom>
        </p:spPr>
      </p:pic>
      <p:sp>
        <p:nvSpPr>
          <p:cNvPr id="11" name="Text 7"/>
          <p:cNvSpPr/>
          <p:nvPr/>
        </p:nvSpPr>
        <p:spPr>
          <a:xfrm>
            <a:off x="1143000" y="2020824"/>
            <a:ext cx="5852160" cy="420624"/>
          </a:xfrm>
          <a:prstGeom prst="rect">
            <a:avLst/>
          </a:prstGeom>
          <a:noFill/>
          <a:ln/>
        </p:spPr>
        <p:txBody>
          <a:bodyPr wrap="square" lIns="0" tIns="0" rIns="0" bIns="0" rtlCol="0" anchor="ctr"/>
          <a:lstStyle/>
          <a:p>
            <a:pPr indent="0" marL="0">
              <a:buNone/>
            </a:pPr>
            <a:r>
              <a:rPr lang="en-US" sz="1500" dirty="0">
                <a:solidFill>
                  <a:srgbClr val="1B1F2B"/>
                </a:solidFill>
                <a:latin typeface="Calibri" pitchFamily="34" charset="0"/>
                <a:ea typeface="Calibri" pitchFamily="34" charset="-122"/>
                <a:cs typeface="Calibri" pitchFamily="34" charset="-120"/>
              </a:rPr>
              <a:t>Meet the AI Dev Kit</a:t>
            </a:r>
            <a:endParaRPr lang="en-US" sz="1500" dirty="0"/>
          </a:p>
        </p:txBody>
      </p:sp>
      <p:sp>
        <p:nvSpPr>
          <p:cNvPr id="12" name="Shape 8"/>
          <p:cNvSpPr/>
          <p:nvPr/>
        </p:nvSpPr>
        <p:spPr>
          <a:xfrm>
            <a:off x="7178040" y="2020824"/>
            <a:ext cx="1051560" cy="420624"/>
          </a:xfrm>
          <a:prstGeom prst="roundRect">
            <a:avLst>
              <a:gd name="adj" fmla="val 50000"/>
            </a:avLst>
          </a:prstGeom>
          <a:solidFill>
            <a:srgbClr val="F4F4F6"/>
          </a:solidFill>
          <a:ln/>
        </p:spPr>
      </p:sp>
      <p:sp>
        <p:nvSpPr>
          <p:cNvPr id="13" name="Text 9"/>
          <p:cNvSpPr/>
          <p:nvPr/>
        </p:nvSpPr>
        <p:spPr>
          <a:xfrm>
            <a:off x="7178040" y="2020824"/>
            <a:ext cx="1051560" cy="420624"/>
          </a:xfrm>
          <a:prstGeom prst="rect">
            <a:avLst/>
          </a:prstGeom>
          <a:noFill/>
          <a:ln/>
        </p:spPr>
        <p:txBody>
          <a:bodyPr wrap="square" lIns="0" tIns="0" rIns="0" bIns="0" rtlCol="0" anchor="ctr"/>
          <a:lstStyle/>
          <a:p>
            <a:pPr algn="ctr" indent="0" marL="0">
              <a:buNone/>
            </a:pPr>
            <a:r>
              <a:rPr lang="en-US" sz="1100" b="1" dirty="0">
                <a:solidFill>
                  <a:srgbClr val="5C6470"/>
                </a:solidFill>
                <a:latin typeface="Calibri" pitchFamily="34" charset="0"/>
                <a:ea typeface="Calibri" pitchFamily="34" charset="-122"/>
                <a:cs typeface="Calibri" pitchFamily="34" charset="-120"/>
              </a:rPr>
              <a:t>1 min</a:t>
            </a:r>
            <a:endParaRPr lang="en-US" sz="1100" dirty="0"/>
          </a:p>
        </p:txBody>
      </p:sp>
      <p:sp>
        <p:nvSpPr>
          <p:cNvPr id="14" name="Shape 10"/>
          <p:cNvSpPr/>
          <p:nvPr/>
        </p:nvSpPr>
        <p:spPr>
          <a:xfrm>
            <a:off x="548640" y="2532888"/>
            <a:ext cx="420624" cy="420624"/>
          </a:xfrm>
          <a:prstGeom prst="ellipse">
            <a:avLst/>
          </a:prstGeom>
          <a:solidFill>
            <a:srgbClr val="FFE3DC"/>
          </a:solidFill>
          <a:ln/>
        </p:spPr>
      </p:sp>
      <p:pic>
        <p:nvPicPr>
          <p:cNvPr id="15" name="Image 2" descr="preencoded.png">    </p:cNvPr>
          <p:cNvPicPr>
            <a:picLocks noChangeAspect="1"/>
          </p:cNvPicPr>
          <p:nvPr/>
        </p:nvPicPr>
        <p:blipFill>
          <a:blip r:embed="rId3"/>
          <a:stretch>
            <a:fillRect/>
          </a:stretch>
        </p:blipFill>
        <p:spPr>
          <a:xfrm>
            <a:off x="603321" y="2587569"/>
            <a:ext cx="311262" cy="311262"/>
          </a:xfrm>
          <a:prstGeom prst="rect">
            <a:avLst/>
          </a:prstGeom>
        </p:spPr>
      </p:pic>
      <p:sp>
        <p:nvSpPr>
          <p:cNvPr id="16" name="Text 11"/>
          <p:cNvSpPr/>
          <p:nvPr/>
        </p:nvSpPr>
        <p:spPr>
          <a:xfrm>
            <a:off x="1143000" y="2532888"/>
            <a:ext cx="5852160" cy="420624"/>
          </a:xfrm>
          <a:prstGeom prst="rect">
            <a:avLst/>
          </a:prstGeom>
          <a:noFill/>
          <a:ln/>
        </p:spPr>
        <p:txBody>
          <a:bodyPr wrap="square" lIns="0" tIns="0" rIns="0" bIns="0" rtlCol="0" anchor="ctr"/>
          <a:lstStyle/>
          <a:p>
            <a:pPr indent="0" marL="0">
              <a:buNone/>
            </a:pPr>
            <a:r>
              <a:rPr lang="en-US" sz="1500" dirty="0">
                <a:solidFill>
                  <a:srgbClr val="1B1F2B"/>
                </a:solidFill>
                <a:latin typeface="Calibri" pitchFamily="34" charset="0"/>
                <a:ea typeface="Calibri" pitchFamily="34" charset="-122"/>
                <a:cs typeface="Calibri" pitchFamily="34" charset="-120"/>
              </a:rPr>
              <a:t>GitHub Copilot in action — live demo</a:t>
            </a:r>
            <a:endParaRPr lang="en-US" sz="1500" dirty="0"/>
          </a:p>
        </p:txBody>
      </p:sp>
      <p:sp>
        <p:nvSpPr>
          <p:cNvPr id="17" name="Shape 12"/>
          <p:cNvSpPr/>
          <p:nvPr/>
        </p:nvSpPr>
        <p:spPr>
          <a:xfrm>
            <a:off x="7178040" y="2532888"/>
            <a:ext cx="1051560" cy="420624"/>
          </a:xfrm>
          <a:prstGeom prst="roundRect">
            <a:avLst>
              <a:gd name="adj" fmla="val 50000"/>
            </a:avLst>
          </a:prstGeom>
          <a:solidFill>
            <a:srgbClr val="F4F4F6"/>
          </a:solidFill>
          <a:ln/>
        </p:spPr>
      </p:sp>
      <p:sp>
        <p:nvSpPr>
          <p:cNvPr id="18" name="Text 13"/>
          <p:cNvSpPr/>
          <p:nvPr/>
        </p:nvSpPr>
        <p:spPr>
          <a:xfrm>
            <a:off x="7178040" y="2532888"/>
            <a:ext cx="1051560" cy="420624"/>
          </a:xfrm>
          <a:prstGeom prst="rect">
            <a:avLst/>
          </a:prstGeom>
          <a:noFill/>
          <a:ln/>
        </p:spPr>
        <p:txBody>
          <a:bodyPr wrap="square" lIns="0" tIns="0" rIns="0" bIns="0" rtlCol="0" anchor="ctr"/>
          <a:lstStyle/>
          <a:p>
            <a:pPr algn="ctr" indent="0" marL="0">
              <a:buNone/>
            </a:pPr>
            <a:r>
              <a:rPr lang="en-US" sz="1100" b="1" dirty="0">
                <a:solidFill>
                  <a:srgbClr val="5C6470"/>
                </a:solidFill>
                <a:latin typeface="Calibri" pitchFamily="34" charset="0"/>
                <a:ea typeface="Calibri" pitchFamily="34" charset="-122"/>
                <a:cs typeface="Calibri" pitchFamily="34" charset="-120"/>
              </a:rPr>
              <a:t>6 min</a:t>
            </a:r>
            <a:endParaRPr lang="en-US" sz="1100" dirty="0"/>
          </a:p>
        </p:txBody>
      </p:sp>
      <p:sp>
        <p:nvSpPr>
          <p:cNvPr id="19" name="Shape 14"/>
          <p:cNvSpPr/>
          <p:nvPr/>
        </p:nvSpPr>
        <p:spPr>
          <a:xfrm>
            <a:off x="548640" y="3044952"/>
            <a:ext cx="420624" cy="420624"/>
          </a:xfrm>
          <a:prstGeom prst="ellipse">
            <a:avLst/>
          </a:prstGeom>
          <a:solidFill>
            <a:srgbClr val="FFE3DC"/>
          </a:solidFill>
          <a:ln/>
        </p:spPr>
      </p:sp>
      <p:pic>
        <p:nvPicPr>
          <p:cNvPr id="20" name="Image 3" descr="preencoded.png">    </p:cNvPr>
          <p:cNvPicPr>
            <a:picLocks noChangeAspect="1"/>
          </p:cNvPicPr>
          <p:nvPr/>
        </p:nvPicPr>
        <p:blipFill>
          <a:blip r:embed="rId4"/>
          <a:stretch>
            <a:fillRect/>
          </a:stretch>
        </p:blipFill>
        <p:spPr>
          <a:xfrm>
            <a:off x="603321" y="3099633"/>
            <a:ext cx="311262" cy="311262"/>
          </a:xfrm>
          <a:prstGeom prst="rect">
            <a:avLst/>
          </a:prstGeom>
        </p:spPr>
      </p:pic>
      <p:sp>
        <p:nvSpPr>
          <p:cNvPr id="21" name="Text 15"/>
          <p:cNvSpPr/>
          <p:nvPr/>
        </p:nvSpPr>
        <p:spPr>
          <a:xfrm>
            <a:off x="1143000" y="3044952"/>
            <a:ext cx="5852160" cy="420624"/>
          </a:xfrm>
          <a:prstGeom prst="rect">
            <a:avLst/>
          </a:prstGeom>
          <a:noFill/>
          <a:ln/>
        </p:spPr>
        <p:txBody>
          <a:bodyPr wrap="square" lIns="0" tIns="0" rIns="0" bIns="0" rtlCol="0" anchor="ctr"/>
          <a:lstStyle/>
          <a:p>
            <a:pPr indent="0" marL="0">
              <a:buNone/>
            </a:pPr>
            <a:r>
              <a:rPr lang="en-US" sz="1500" dirty="0">
                <a:solidFill>
                  <a:srgbClr val="1B1F2B"/>
                </a:solidFill>
                <a:latin typeface="Calibri" pitchFamily="34" charset="0"/>
                <a:ea typeface="Calibri" pitchFamily="34" charset="-122"/>
                <a:cs typeface="Calibri" pitchFamily="34" charset="-120"/>
              </a:rPr>
              <a:t>What you can build with it</a:t>
            </a:r>
            <a:endParaRPr lang="en-US" sz="1500" dirty="0"/>
          </a:p>
        </p:txBody>
      </p:sp>
      <p:sp>
        <p:nvSpPr>
          <p:cNvPr id="22" name="Shape 16"/>
          <p:cNvSpPr/>
          <p:nvPr/>
        </p:nvSpPr>
        <p:spPr>
          <a:xfrm>
            <a:off x="7178040" y="3044952"/>
            <a:ext cx="1051560" cy="420624"/>
          </a:xfrm>
          <a:prstGeom prst="roundRect">
            <a:avLst>
              <a:gd name="adj" fmla="val 50000"/>
            </a:avLst>
          </a:prstGeom>
          <a:solidFill>
            <a:srgbClr val="F4F4F6"/>
          </a:solidFill>
          <a:ln/>
        </p:spPr>
      </p:sp>
      <p:sp>
        <p:nvSpPr>
          <p:cNvPr id="23" name="Text 17"/>
          <p:cNvSpPr/>
          <p:nvPr/>
        </p:nvSpPr>
        <p:spPr>
          <a:xfrm>
            <a:off x="7178040" y="3044952"/>
            <a:ext cx="1051560" cy="420624"/>
          </a:xfrm>
          <a:prstGeom prst="rect">
            <a:avLst/>
          </a:prstGeom>
          <a:noFill/>
          <a:ln/>
        </p:spPr>
        <p:txBody>
          <a:bodyPr wrap="square" lIns="0" tIns="0" rIns="0" bIns="0" rtlCol="0" anchor="ctr"/>
          <a:lstStyle/>
          <a:p>
            <a:pPr algn="ctr" indent="0" marL="0">
              <a:buNone/>
            </a:pPr>
            <a:r>
              <a:rPr lang="en-US" sz="1100" b="1" dirty="0">
                <a:solidFill>
                  <a:srgbClr val="5C6470"/>
                </a:solidFill>
                <a:latin typeface="Calibri" pitchFamily="34" charset="0"/>
                <a:ea typeface="Calibri" pitchFamily="34" charset="-122"/>
                <a:cs typeface="Calibri" pitchFamily="34" charset="-120"/>
              </a:rPr>
              <a:t>1 min</a:t>
            </a:r>
            <a:endParaRPr lang="en-US" sz="1100" dirty="0"/>
          </a:p>
        </p:txBody>
      </p:sp>
      <p:sp>
        <p:nvSpPr>
          <p:cNvPr id="24" name="Shape 18"/>
          <p:cNvSpPr/>
          <p:nvPr/>
        </p:nvSpPr>
        <p:spPr>
          <a:xfrm>
            <a:off x="548640" y="3557016"/>
            <a:ext cx="420624" cy="420624"/>
          </a:xfrm>
          <a:prstGeom prst="ellipse">
            <a:avLst/>
          </a:prstGeom>
          <a:solidFill>
            <a:srgbClr val="FFE3DC"/>
          </a:solidFill>
          <a:ln/>
        </p:spPr>
      </p:sp>
      <p:pic>
        <p:nvPicPr>
          <p:cNvPr id="25" name="Image 4" descr="preencoded.png">    </p:cNvPr>
          <p:cNvPicPr>
            <a:picLocks noChangeAspect="1"/>
          </p:cNvPicPr>
          <p:nvPr/>
        </p:nvPicPr>
        <p:blipFill>
          <a:blip r:embed="rId5"/>
          <a:stretch>
            <a:fillRect/>
          </a:stretch>
        </p:blipFill>
        <p:spPr>
          <a:xfrm>
            <a:off x="603321" y="3611697"/>
            <a:ext cx="311262" cy="311262"/>
          </a:xfrm>
          <a:prstGeom prst="rect">
            <a:avLst/>
          </a:prstGeom>
        </p:spPr>
      </p:pic>
      <p:sp>
        <p:nvSpPr>
          <p:cNvPr id="26" name="Text 19"/>
          <p:cNvSpPr/>
          <p:nvPr/>
        </p:nvSpPr>
        <p:spPr>
          <a:xfrm>
            <a:off x="1143000" y="3557016"/>
            <a:ext cx="5852160" cy="420624"/>
          </a:xfrm>
          <a:prstGeom prst="rect">
            <a:avLst/>
          </a:prstGeom>
          <a:noFill/>
          <a:ln/>
        </p:spPr>
        <p:txBody>
          <a:bodyPr wrap="square" lIns="0" tIns="0" rIns="0" bIns="0" rtlCol="0" anchor="ctr"/>
          <a:lstStyle/>
          <a:p>
            <a:pPr indent="0" marL="0">
              <a:buNone/>
            </a:pPr>
            <a:r>
              <a:rPr lang="en-US" sz="1500" dirty="0">
                <a:solidFill>
                  <a:srgbClr val="1B1F2B"/>
                </a:solidFill>
                <a:latin typeface="Calibri" pitchFamily="34" charset="0"/>
                <a:ea typeface="Calibri" pitchFamily="34" charset="-122"/>
                <a:cs typeface="Calibri" pitchFamily="34" charset="-120"/>
              </a:rPr>
              <a:t>Productivity &amp; governance</a:t>
            </a:r>
            <a:endParaRPr lang="en-US" sz="1500" dirty="0"/>
          </a:p>
        </p:txBody>
      </p:sp>
      <p:sp>
        <p:nvSpPr>
          <p:cNvPr id="27" name="Shape 20"/>
          <p:cNvSpPr/>
          <p:nvPr/>
        </p:nvSpPr>
        <p:spPr>
          <a:xfrm>
            <a:off x="7178040" y="3557016"/>
            <a:ext cx="1051560" cy="420624"/>
          </a:xfrm>
          <a:prstGeom prst="roundRect">
            <a:avLst>
              <a:gd name="adj" fmla="val 50000"/>
            </a:avLst>
          </a:prstGeom>
          <a:solidFill>
            <a:srgbClr val="F4F4F6"/>
          </a:solidFill>
          <a:ln/>
        </p:spPr>
      </p:sp>
      <p:sp>
        <p:nvSpPr>
          <p:cNvPr id="28" name="Text 21"/>
          <p:cNvSpPr/>
          <p:nvPr/>
        </p:nvSpPr>
        <p:spPr>
          <a:xfrm>
            <a:off x="7178040" y="3557016"/>
            <a:ext cx="1051560" cy="420624"/>
          </a:xfrm>
          <a:prstGeom prst="rect">
            <a:avLst/>
          </a:prstGeom>
          <a:noFill/>
          <a:ln/>
        </p:spPr>
        <p:txBody>
          <a:bodyPr wrap="square" lIns="0" tIns="0" rIns="0" bIns="0" rtlCol="0" anchor="ctr"/>
          <a:lstStyle/>
          <a:p>
            <a:pPr algn="ctr" indent="0" marL="0">
              <a:buNone/>
            </a:pPr>
            <a:r>
              <a:rPr lang="en-US" sz="1100" b="1" dirty="0">
                <a:solidFill>
                  <a:srgbClr val="5C6470"/>
                </a:solidFill>
                <a:latin typeface="Calibri" pitchFamily="34" charset="0"/>
                <a:ea typeface="Calibri" pitchFamily="34" charset="-122"/>
                <a:cs typeface="Calibri" pitchFamily="34" charset="-120"/>
              </a:rPr>
              <a:t>1.5 min</a:t>
            </a:r>
            <a:endParaRPr lang="en-US" sz="1100" dirty="0"/>
          </a:p>
        </p:txBody>
      </p:sp>
      <p:sp>
        <p:nvSpPr>
          <p:cNvPr id="29" name="Shape 22"/>
          <p:cNvSpPr/>
          <p:nvPr/>
        </p:nvSpPr>
        <p:spPr>
          <a:xfrm>
            <a:off x="548640" y="4069080"/>
            <a:ext cx="420624" cy="420624"/>
          </a:xfrm>
          <a:prstGeom prst="ellipse">
            <a:avLst/>
          </a:prstGeom>
          <a:solidFill>
            <a:srgbClr val="FFE3DC"/>
          </a:solidFill>
          <a:ln/>
        </p:spPr>
      </p:sp>
      <p:pic>
        <p:nvPicPr>
          <p:cNvPr id="30" name="Image 5" descr="preencoded.png">    </p:cNvPr>
          <p:cNvPicPr>
            <a:picLocks noChangeAspect="1"/>
          </p:cNvPicPr>
          <p:nvPr/>
        </p:nvPicPr>
        <p:blipFill>
          <a:blip r:embed="rId6"/>
          <a:stretch>
            <a:fillRect/>
          </a:stretch>
        </p:blipFill>
        <p:spPr>
          <a:xfrm>
            <a:off x="603321" y="4123761"/>
            <a:ext cx="311262" cy="311262"/>
          </a:xfrm>
          <a:prstGeom prst="rect">
            <a:avLst/>
          </a:prstGeom>
        </p:spPr>
      </p:pic>
      <p:sp>
        <p:nvSpPr>
          <p:cNvPr id="31" name="Text 23"/>
          <p:cNvSpPr/>
          <p:nvPr/>
        </p:nvSpPr>
        <p:spPr>
          <a:xfrm>
            <a:off x="1143000" y="4069080"/>
            <a:ext cx="5852160" cy="420624"/>
          </a:xfrm>
          <a:prstGeom prst="rect">
            <a:avLst/>
          </a:prstGeom>
          <a:noFill/>
          <a:ln/>
        </p:spPr>
        <p:txBody>
          <a:bodyPr wrap="square" lIns="0" tIns="0" rIns="0" bIns="0" rtlCol="0" anchor="ctr"/>
          <a:lstStyle/>
          <a:p>
            <a:pPr indent="0" marL="0">
              <a:buNone/>
            </a:pPr>
            <a:r>
              <a:rPr lang="en-US" sz="1500" dirty="0">
                <a:solidFill>
                  <a:srgbClr val="1B1F2B"/>
                </a:solidFill>
                <a:latin typeface="Calibri" pitchFamily="34" charset="0"/>
                <a:ea typeface="Calibri" pitchFamily="34" charset="-122"/>
                <a:cs typeface="Calibri" pitchFamily="34" charset="-120"/>
              </a:rPr>
              <a:t>Getting started on your team</a:t>
            </a:r>
            <a:endParaRPr lang="en-US" sz="1500" dirty="0"/>
          </a:p>
        </p:txBody>
      </p:sp>
      <p:sp>
        <p:nvSpPr>
          <p:cNvPr id="32" name="Shape 24"/>
          <p:cNvSpPr/>
          <p:nvPr/>
        </p:nvSpPr>
        <p:spPr>
          <a:xfrm>
            <a:off x="7178040" y="4069080"/>
            <a:ext cx="1051560" cy="420624"/>
          </a:xfrm>
          <a:prstGeom prst="roundRect">
            <a:avLst>
              <a:gd name="adj" fmla="val 50000"/>
            </a:avLst>
          </a:prstGeom>
          <a:solidFill>
            <a:srgbClr val="F4F4F6"/>
          </a:solidFill>
          <a:ln/>
        </p:spPr>
      </p:sp>
      <p:sp>
        <p:nvSpPr>
          <p:cNvPr id="33" name="Text 25"/>
          <p:cNvSpPr/>
          <p:nvPr/>
        </p:nvSpPr>
        <p:spPr>
          <a:xfrm>
            <a:off x="7178040" y="4069080"/>
            <a:ext cx="1051560" cy="420624"/>
          </a:xfrm>
          <a:prstGeom prst="rect">
            <a:avLst/>
          </a:prstGeom>
          <a:noFill/>
          <a:ln/>
        </p:spPr>
        <p:txBody>
          <a:bodyPr wrap="square" lIns="0" tIns="0" rIns="0" bIns="0" rtlCol="0" anchor="ctr"/>
          <a:lstStyle/>
          <a:p>
            <a:pPr algn="ctr" indent="0" marL="0">
              <a:buNone/>
            </a:pPr>
            <a:r>
              <a:rPr lang="en-US" sz="1100" b="1" dirty="0">
                <a:solidFill>
                  <a:srgbClr val="5C6470"/>
                </a:solidFill>
                <a:latin typeface="Calibri" pitchFamily="34" charset="0"/>
                <a:ea typeface="Calibri" pitchFamily="34" charset="-122"/>
                <a:cs typeface="Calibri" pitchFamily="34" charset="-120"/>
              </a:rPr>
              <a:t>1.5 min</a:t>
            </a:r>
            <a:endParaRPr lang="en-US" sz="1100" dirty="0"/>
          </a:p>
        </p:txBody>
      </p:sp>
      <p:sp>
        <p:nvSpPr>
          <p:cNvPr id="34" name="Text 26"/>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Databricks AI Dev Kit · Platform Engineering Demo</a:t>
            </a:r>
            <a:endParaRPr lang="en-US" sz="900" dirty="0"/>
          </a:p>
        </p:txBody>
      </p:sp>
      <p:sp>
        <p:nvSpPr>
          <p:cNvPr id="35" name="Text 27"/>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2700" b="1" dirty="0">
                <a:solidFill>
                  <a:srgbClr val="1B1F2B"/>
                </a:solidFill>
                <a:latin typeface="Cambria" pitchFamily="34" charset="0"/>
                <a:ea typeface="Cambria" pitchFamily="34" charset="-122"/>
                <a:cs typeface="Cambria" pitchFamily="34" charset="-120"/>
              </a:rPr>
              <a:t>No “Vibe Coding” on Databricks — Until Last Year</a:t>
            </a:r>
            <a:endParaRPr lang="en-US" sz="2700" dirty="0"/>
          </a:p>
        </p:txBody>
      </p:sp>
      <p:sp>
        <p:nvSpPr>
          <p:cNvPr id="3" name="Text 1"/>
          <p:cNvSpPr/>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AI assistants like Copilot and ChatGPT had never seen your workspace.</a:t>
            </a:r>
            <a:endParaRPr lang="en-US" sz="1400" dirty="0"/>
          </a:p>
        </p:txBody>
      </p:sp>
      <p:sp>
        <p:nvSpPr>
          <p:cNvPr id="4" name="Shape 2"/>
          <p:cNvSpPr/>
          <p:nvPr/>
        </p:nvSpPr>
        <p:spPr>
          <a:xfrm>
            <a:off x="457200" y="1508760"/>
            <a:ext cx="3931920" cy="1371600"/>
          </a:xfrm>
          <a:prstGeom prst="roundRect">
            <a:avLst>
              <a:gd name="adj" fmla="val 5333"/>
            </a:avLst>
          </a:prstGeom>
          <a:solidFill>
            <a:srgbClr val="F4F4F6"/>
          </a:solidFill>
          <a:ln/>
          <a:effectLst>
            <a:outerShdw sx="100000" sy="100000" kx="0" ky="0" algn="bl" rotWithShape="0" blurRad="101600" dist="38100" dir="2700000">
              <a:srgbClr val="000000">
                <a:alpha val="12000"/>
              </a:srgbClr>
            </a:outerShdw>
          </a:effectLst>
        </p:spPr>
      </p:sp>
      <p:sp>
        <p:nvSpPr>
          <p:cNvPr id="5" name="Shape 3"/>
          <p:cNvSpPr/>
          <p:nvPr/>
        </p:nvSpPr>
        <p:spPr>
          <a:xfrm>
            <a:off x="685800" y="1737360"/>
            <a:ext cx="502920" cy="502920"/>
          </a:xfrm>
          <a:prstGeom prst="ellipse">
            <a:avLst/>
          </a:prstGeom>
          <a:solidFill>
            <a:srgbClr val="FFE3DC"/>
          </a:solidFill>
          <a:ln/>
        </p:spPr>
      </p:sp>
      <p:pic>
        <p:nvPicPr>
          <p:cNvPr id="6" name="Image 0" descr="preencoded.png">    </p:cNvPr>
          <p:cNvPicPr>
            <a:picLocks noChangeAspect="1"/>
          </p:cNvPicPr>
          <p:nvPr/>
        </p:nvPicPr>
        <p:blipFill>
          <a:blip r:embed="rId1"/>
          <a:stretch>
            <a:fillRect/>
          </a:stretch>
        </p:blipFill>
        <p:spPr>
          <a:xfrm>
            <a:off x="751180" y="1802740"/>
            <a:ext cx="372161" cy="372161"/>
          </a:xfrm>
          <a:prstGeom prst="rect">
            <a:avLst/>
          </a:prstGeom>
        </p:spPr>
      </p:pic>
      <p:sp>
        <p:nvSpPr>
          <p:cNvPr id="7" name="Text 4"/>
          <p:cNvSpPr/>
          <p:nvPr/>
        </p:nvSpPr>
        <p:spPr>
          <a:xfrm>
            <a:off x="1325880" y="1691640"/>
            <a:ext cx="2834640" cy="365760"/>
          </a:xfrm>
          <a:prstGeom prst="rect">
            <a:avLst/>
          </a:prstGeom>
          <a:noFill/>
          <a:ln/>
        </p:spPr>
        <p:txBody>
          <a:bodyPr wrap="square" lIns="0" tIns="0" rIns="0" bIns="0" rtlCol="0" anchor="ctr"/>
          <a:lstStyle/>
          <a:p>
            <a:pPr indent="0" marL="0">
              <a:buNone/>
            </a:pPr>
            <a:r>
              <a:rPr lang="en-US" sz="1500" b="1" dirty="0">
                <a:solidFill>
                  <a:srgbClr val="1B1F2B"/>
                </a:solidFill>
                <a:latin typeface="Calibri" pitchFamily="34" charset="0"/>
                <a:ea typeface="Calibri" pitchFamily="34" charset="-122"/>
                <a:cs typeface="Calibri" pitchFamily="34" charset="-120"/>
              </a:rPr>
              <a:t>No workspace awareness</a:t>
            </a:r>
            <a:endParaRPr lang="en-US" sz="1500" dirty="0"/>
          </a:p>
        </p:txBody>
      </p:sp>
      <p:sp>
        <p:nvSpPr>
          <p:cNvPr id="8" name="Text 5"/>
          <p:cNvSpPr/>
          <p:nvPr/>
        </p:nvSpPr>
        <p:spPr>
          <a:xfrm>
            <a:off x="1325880" y="2057400"/>
            <a:ext cx="2834640" cy="73152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Copilot suggested generic code that had never seen your real tables or clusters.</a:t>
            </a:r>
            <a:endParaRPr lang="en-US" sz="1150" dirty="0"/>
          </a:p>
        </p:txBody>
      </p:sp>
      <p:sp>
        <p:nvSpPr>
          <p:cNvPr id="9" name="Shape 6"/>
          <p:cNvSpPr/>
          <p:nvPr/>
        </p:nvSpPr>
        <p:spPr>
          <a:xfrm>
            <a:off x="4663440" y="1508760"/>
            <a:ext cx="3931920" cy="1371600"/>
          </a:xfrm>
          <a:prstGeom prst="roundRect">
            <a:avLst>
              <a:gd name="adj" fmla="val 5333"/>
            </a:avLst>
          </a:prstGeom>
          <a:solidFill>
            <a:srgbClr val="F4F4F6"/>
          </a:solidFill>
          <a:ln/>
          <a:effectLst>
            <a:outerShdw sx="100000" sy="100000" kx="0" ky="0" algn="bl" rotWithShape="0" blurRad="101600" dist="38100" dir="2700000">
              <a:srgbClr val="000000">
                <a:alpha val="12000"/>
              </a:srgbClr>
            </a:outerShdw>
          </a:effectLst>
        </p:spPr>
      </p:sp>
      <p:sp>
        <p:nvSpPr>
          <p:cNvPr id="10" name="Shape 7"/>
          <p:cNvSpPr/>
          <p:nvPr/>
        </p:nvSpPr>
        <p:spPr>
          <a:xfrm>
            <a:off x="4892040" y="1737360"/>
            <a:ext cx="502920" cy="502920"/>
          </a:xfrm>
          <a:prstGeom prst="ellipse">
            <a:avLst/>
          </a:prstGeom>
          <a:solidFill>
            <a:srgbClr val="FFE3DC"/>
          </a:solidFill>
          <a:ln/>
        </p:spPr>
      </p:sp>
      <p:pic>
        <p:nvPicPr>
          <p:cNvPr id="11" name="Image 1" descr="preencoded.png">    </p:cNvPr>
          <p:cNvPicPr>
            <a:picLocks noChangeAspect="1"/>
          </p:cNvPicPr>
          <p:nvPr/>
        </p:nvPicPr>
        <p:blipFill>
          <a:blip r:embed="rId2"/>
          <a:stretch>
            <a:fillRect/>
          </a:stretch>
        </p:blipFill>
        <p:spPr>
          <a:xfrm>
            <a:off x="4957420" y="1802740"/>
            <a:ext cx="372161" cy="372161"/>
          </a:xfrm>
          <a:prstGeom prst="rect">
            <a:avLst/>
          </a:prstGeom>
        </p:spPr>
      </p:pic>
      <p:sp>
        <p:nvSpPr>
          <p:cNvPr id="12" name="Text 8"/>
          <p:cNvSpPr/>
          <p:nvPr/>
        </p:nvSpPr>
        <p:spPr>
          <a:xfrm>
            <a:off x="5532120" y="1691640"/>
            <a:ext cx="2834640" cy="365760"/>
          </a:xfrm>
          <a:prstGeom prst="rect">
            <a:avLst/>
          </a:prstGeom>
          <a:noFill/>
          <a:ln/>
        </p:spPr>
        <p:txBody>
          <a:bodyPr wrap="square" lIns="0" tIns="0" rIns="0" bIns="0" rtlCol="0" anchor="ctr"/>
          <a:lstStyle/>
          <a:p>
            <a:pPr indent="0" marL="0">
              <a:buNone/>
            </a:pPr>
            <a:r>
              <a:rPr lang="en-US" sz="1500" b="1" dirty="0">
                <a:solidFill>
                  <a:srgbClr val="1B1F2B"/>
                </a:solidFill>
                <a:latin typeface="Calibri" pitchFamily="34" charset="0"/>
                <a:ea typeface="Calibri" pitchFamily="34" charset="-122"/>
                <a:cs typeface="Calibri" pitchFamily="34" charset="-120"/>
              </a:rPr>
              <a:t>Manual copy-paste</a:t>
            </a:r>
            <a:endParaRPr lang="en-US" sz="1500" dirty="0"/>
          </a:p>
        </p:txBody>
      </p:sp>
      <p:sp>
        <p:nvSpPr>
          <p:cNvPr id="13" name="Text 9"/>
          <p:cNvSpPr/>
          <p:nvPr/>
        </p:nvSpPr>
        <p:spPr>
          <a:xfrm>
            <a:off x="5532120" y="2057400"/>
            <a:ext cx="2834640" cy="73152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Generate code in a browser tab, paste it into a notebook, and hope it runs.</a:t>
            </a:r>
            <a:endParaRPr lang="en-US" sz="1150" dirty="0"/>
          </a:p>
        </p:txBody>
      </p:sp>
      <p:sp>
        <p:nvSpPr>
          <p:cNvPr id="14" name="Shape 10"/>
          <p:cNvSpPr/>
          <p:nvPr/>
        </p:nvSpPr>
        <p:spPr>
          <a:xfrm>
            <a:off x="457200" y="3154680"/>
            <a:ext cx="3931920" cy="1371600"/>
          </a:xfrm>
          <a:prstGeom prst="roundRect">
            <a:avLst>
              <a:gd name="adj" fmla="val 5333"/>
            </a:avLst>
          </a:prstGeom>
          <a:solidFill>
            <a:srgbClr val="F4F4F6"/>
          </a:solidFill>
          <a:ln/>
          <a:effectLst>
            <a:outerShdw sx="100000" sy="100000" kx="0" ky="0" algn="bl" rotWithShape="0" blurRad="101600" dist="38100" dir="2700000">
              <a:srgbClr val="000000">
                <a:alpha val="12000"/>
              </a:srgbClr>
            </a:outerShdw>
          </a:effectLst>
        </p:spPr>
      </p:sp>
      <p:sp>
        <p:nvSpPr>
          <p:cNvPr id="15" name="Shape 11"/>
          <p:cNvSpPr/>
          <p:nvPr/>
        </p:nvSpPr>
        <p:spPr>
          <a:xfrm>
            <a:off x="685800" y="3383280"/>
            <a:ext cx="502920" cy="502920"/>
          </a:xfrm>
          <a:prstGeom prst="ellipse">
            <a:avLst/>
          </a:prstGeom>
          <a:solidFill>
            <a:srgbClr val="FFE3DC"/>
          </a:solidFill>
          <a:ln/>
        </p:spPr>
      </p:sp>
      <p:pic>
        <p:nvPicPr>
          <p:cNvPr id="16" name="Image 2" descr="preencoded.png">    </p:cNvPr>
          <p:cNvPicPr>
            <a:picLocks noChangeAspect="1"/>
          </p:cNvPicPr>
          <p:nvPr/>
        </p:nvPicPr>
        <p:blipFill>
          <a:blip r:embed="rId3"/>
          <a:stretch>
            <a:fillRect/>
          </a:stretch>
        </p:blipFill>
        <p:spPr>
          <a:xfrm>
            <a:off x="751180" y="3448660"/>
            <a:ext cx="372161" cy="372161"/>
          </a:xfrm>
          <a:prstGeom prst="rect">
            <a:avLst/>
          </a:prstGeom>
        </p:spPr>
      </p:pic>
      <p:sp>
        <p:nvSpPr>
          <p:cNvPr id="17" name="Text 12"/>
          <p:cNvSpPr/>
          <p:nvPr/>
        </p:nvSpPr>
        <p:spPr>
          <a:xfrm>
            <a:off x="1325880" y="3337560"/>
            <a:ext cx="2834640" cy="365760"/>
          </a:xfrm>
          <a:prstGeom prst="rect">
            <a:avLst/>
          </a:prstGeom>
          <a:noFill/>
          <a:ln/>
        </p:spPr>
        <p:txBody>
          <a:bodyPr wrap="square" lIns="0" tIns="0" rIns="0" bIns="0" rtlCol="0" anchor="ctr"/>
          <a:lstStyle/>
          <a:p>
            <a:pPr indent="0" marL="0">
              <a:buNone/>
            </a:pPr>
            <a:r>
              <a:rPr lang="en-US" sz="1500" b="1" dirty="0">
                <a:solidFill>
                  <a:srgbClr val="1B1F2B"/>
                </a:solidFill>
                <a:latin typeface="Calibri" pitchFamily="34" charset="0"/>
                <a:ea typeface="Calibri" pitchFamily="34" charset="-122"/>
                <a:cs typeface="Calibri" pitchFamily="34" charset="-120"/>
              </a:rPr>
              <a:t>Guesswork code</a:t>
            </a:r>
            <a:endParaRPr lang="en-US" sz="1500" dirty="0"/>
          </a:p>
        </p:txBody>
      </p:sp>
      <p:sp>
        <p:nvSpPr>
          <p:cNvPr id="18" name="Text 13"/>
          <p:cNvSpPr/>
          <p:nvPr/>
        </p:nvSpPr>
        <p:spPr>
          <a:xfrm>
            <a:off x="1325880" y="3703320"/>
            <a:ext cx="2834640" cy="73152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Wrong table names or outdated code — you'd only find out after running it.</a:t>
            </a:r>
            <a:endParaRPr lang="en-US" sz="1150" dirty="0"/>
          </a:p>
        </p:txBody>
      </p:sp>
      <p:sp>
        <p:nvSpPr>
          <p:cNvPr id="19" name="Shape 14"/>
          <p:cNvSpPr/>
          <p:nvPr/>
        </p:nvSpPr>
        <p:spPr>
          <a:xfrm>
            <a:off x="4663440" y="3154680"/>
            <a:ext cx="3931920" cy="1371600"/>
          </a:xfrm>
          <a:prstGeom prst="roundRect">
            <a:avLst>
              <a:gd name="adj" fmla="val 5333"/>
            </a:avLst>
          </a:prstGeom>
          <a:solidFill>
            <a:srgbClr val="F4F4F6"/>
          </a:solidFill>
          <a:ln/>
          <a:effectLst>
            <a:outerShdw sx="100000" sy="100000" kx="0" ky="0" algn="bl" rotWithShape="0" blurRad="101600" dist="38100" dir="2700000">
              <a:srgbClr val="000000">
                <a:alpha val="12000"/>
              </a:srgbClr>
            </a:outerShdw>
          </a:effectLst>
        </p:spPr>
      </p:sp>
      <p:sp>
        <p:nvSpPr>
          <p:cNvPr id="20" name="Shape 15"/>
          <p:cNvSpPr/>
          <p:nvPr/>
        </p:nvSpPr>
        <p:spPr>
          <a:xfrm>
            <a:off x="4892040" y="3383280"/>
            <a:ext cx="502920" cy="502920"/>
          </a:xfrm>
          <a:prstGeom prst="ellipse">
            <a:avLst/>
          </a:prstGeom>
          <a:solidFill>
            <a:srgbClr val="FFE3DC"/>
          </a:solidFill>
          <a:ln/>
        </p:spPr>
      </p:sp>
      <p:pic>
        <p:nvPicPr>
          <p:cNvPr id="21" name="Image 3" descr="preencoded.png">    </p:cNvPr>
          <p:cNvPicPr>
            <a:picLocks noChangeAspect="1"/>
          </p:cNvPicPr>
          <p:nvPr/>
        </p:nvPicPr>
        <p:blipFill>
          <a:blip r:embed="rId4"/>
          <a:stretch>
            <a:fillRect/>
          </a:stretch>
        </p:blipFill>
        <p:spPr>
          <a:xfrm>
            <a:off x="4957420" y="3448660"/>
            <a:ext cx="372161" cy="372161"/>
          </a:xfrm>
          <a:prstGeom prst="rect">
            <a:avLst/>
          </a:prstGeom>
        </p:spPr>
      </p:pic>
      <p:sp>
        <p:nvSpPr>
          <p:cNvPr id="22" name="Text 16"/>
          <p:cNvSpPr/>
          <p:nvPr/>
        </p:nvSpPr>
        <p:spPr>
          <a:xfrm>
            <a:off x="5532120" y="3337560"/>
            <a:ext cx="2834640" cy="365760"/>
          </a:xfrm>
          <a:prstGeom prst="rect">
            <a:avLst/>
          </a:prstGeom>
          <a:noFill/>
          <a:ln/>
        </p:spPr>
        <p:txBody>
          <a:bodyPr wrap="square" lIns="0" tIns="0" rIns="0" bIns="0" rtlCol="0" anchor="ctr"/>
          <a:lstStyle/>
          <a:p>
            <a:pPr indent="0" marL="0">
              <a:buNone/>
            </a:pPr>
            <a:r>
              <a:rPr lang="en-US" sz="1500" b="1" dirty="0">
                <a:solidFill>
                  <a:srgbClr val="1B1F2B"/>
                </a:solidFill>
                <a:latin typeface="Calibri" pitchFamily="34" charset="0"/>
                <a:ea typeface="Calibri" pitchFamily="34" charset="-122"/>
                <a:cs typeface="Calibri" pitchFamily="34" charset="-120"/>
              </a:rPr>
              <a:t>Context-switching tax</a:t>
            </a:r>
            <a:endParaRPr lang="en-US" sz="1500" dirty="0"/>
          </a:p>
        </p:txBody>
      </p:sp>
      <p:sp>
        <p:nvSpPr>
          <p:cNvPr id="23" name="Text 17"/>
          <p:cNvSpPr/>
          <p:nvPr/>
        </p:nvSpPr>
        <p:spPr>
          <a:xfrm>
            <a:off x="5532120" y="3703320"/>
            <a:ext cx="2834640" cy="731520"/>
          </a:xfrm>
          <a:prstGeom prst="rect">
            <a:avLst/>
          </a:prstGeom>
          <a:noFill/>
          <a:ln/>
        </p:spPr>
        <p:txBody>
          <a:bodyPr wrap="square" lIns="0" tIns="0" rIns="0" bIns="0" rtlCol="0" anchor="ctr"/>
          <a:lstStyle/>
          <a:p>
            <a:pPr indent="0" marL="0">
              <a:buNone/>
            </a:pPr>
            <a:r>
              <a:rPr lang="en-US" sz="1150" dirty="0">
                <a:solidFill>
                  <a:srgbClr val="5C6470"/>
                </a:solidFill>
                <a:latin typeface="Calibri" pitchFamily="34" charset="0"/>
                <a:ea typeface="Calibri" pitchFamily="34" charset="-122"/>
                <a:cs typeface="Calibri" pitchFamily="34" charset="-120"/>
              </a:rPr>
              <a:t>Every fix meant leaving the IDE, checking the workspace by hand, and going back.</a:t>
            </a:r>
            <a:endParaRPr lang="en-US" sz="1150" dirty="0"/>
          </a:p>
        </p:txBody>
      </p:sp>
      <p:sp>
        <p:nvSpPr>
          <p:cNvPr id="24" name="Text 18"/>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Databricks AI Dev Kit · Platform Engineering Demo</a:t>
            </a:r>
            <a:endParaRPr lang="en-US" sz="900" dirty="0"/>
          </a:p>
        </p:txBody>
      </p:sp>
      <p:sp>
        <p:nvSpPr>
          <p:cNvPr id="25" name="Text 19"/>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6"/>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B1F2B"/>
                </a:solidFill>
                <a:latin typeface="Cambria" pitchFamily="34" charset="0"/>
                <a:ea typeface="Cambria" pitchFamily="34" charset="-122"/>
                <a:cs typeface="Cambria" pitchFamily="34" charset="-120"/>
              </a:rPr>
              <a:t>The Old Way (Pre-AI Dev Kit)</a:t>
            </a:r>
            <a:endParaRPr lang="en-US" sz="30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Six steps, two tools, a lot of copy-paste.</a:t>
            </a:r>
            <a:endParaRPr lang="en-US" sz="1400" dirty="0"/>
          </a:p>
        </p:txBody>
      </p:sp>
      <p:sp>
        <p:nvSpPr>
          <p:cNvPr id="4" name="Shape 2"/>
          <p:cNvSpPr/>
          <p:nvPr/>
        </p:nvSpPr>
        <p:spPr>
          <a:xfrm>
            <a:off x="457200" y="1554480"/>
            <a:ext cx="265176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621792" y="1719072"/>
            <a:ext cx="365760" cy="365760"/>
          </a:xfrm>
          <a:prstGeom prst="ellipse">
            <a:avLst/>
          </a:prstGeom>
          <a:solidFill>
            <a:srgbClr val="1B1F2B"/>
          </a:solidFill>
          <a:ln/>
        </p:spPr>
      </p:sp>
      <p:sp>
        <p:nvSpPr>
          <p:cNvPr id="6" name="Text 4"/>
          <p:cNvSpPr/>
          <p:nvPr/>
        </p:nvSpPr>
        <p:spPr>
          <a:xfrm>
            <a:off x="621792" y="1719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2423160" y="1719072"/>
            <a:ext cx="411480" cy="411480"/>
          </a:xfrm>
          <a:prstGeom prst="ellipse">
            <a:avLst/>
          </a:prstGeom>
          <a:solidFill>
            <a:srgbClr val="FFE3DC"/>
          </a:solidFill>
          <a:ln/>
        </p:spPr>
      </p:sp>
      <p:pic>
        <p:nvPicPr>
          <p:cNvPr id="8" name="Image 0" descr="preencoded.png">    </p:cNvPr>
          <p:cNvPicPr>
            <a:picLocks noChangeAspect="1"/>
          </p:cNvPicPr>
          <p:nvPr/>
        </p:nvPicPr>
        <p:blipFill>
          <a:blip r:embed="rId1"/>
          <a:stretch>
            <a:fillRect/>
          </a:stretch>
        </p:blipFill>
        <p:spPr>
          <a:xfrm>
            <a:off x="2476652" y="1772564"/>
            <a:ext cx="304495" cy="304495"/>
          </a:xfrm>
          <a:prstGeom prst="rect">
            <a:avLst/>
          </a:prstGeom>
        </p:spPr>
      </p:pic>
      <p:sp>
        <p:nvSpPr>
          <p:cNvPr id="9" name="Text 6"/>
          <p:cNvSpPr/>
          <p:nvPr/>
        </p:nvSpPr>
        <p:spPr>
          <a:xfrm>
            <a:off x="621792" y="2212848"/>
            <a:ext cx="2286000" cy="640080"/>
          </a:xfrm>
          <a:prstGeom prst="rect">
            <a:avLst/>
          </a:prstGeom>
          <a:noFill/>
          <a:ln/>
        </p:spPr>
        <p:txBody>
          <a:bodyPr wrap="square" lIns="0" tIns="0" rIns="0" bIns="0" rtlCol="0" anchor="ctr"/>
          <a:lstStyle/>
          <a:p>
            <a:pPr indent="0" marL="0">
              <a:buNone/>
            </a:pPr>
            <a:r>
              <a:rPr lang="en-US" sz="1150" dirty="0">
                <a:solidFill>
                  <a:srgbClr val="1B1F2B"/>
                </a:solidFill>
                <a:latin typeface="Calibri" pitchFamily="34" charset="0"/>
                <a:ea typeface="Calibri" pitchFamily="34" charset="-122"/>
                <a:cs typeface="Calibri" pitchFamily="34" charset="-120"/>
              </a:rPr>
              <a:t>Open ChatGPT or Copilot in a browser tab</a:t>
            </a:r>
            <a:endParaRPr lang="en-US" sz="1150" dirty="0"/>
          </a:p>
        </p:txBody>
      </p:sp>
      <p:pic>
        <p:nvPicPr>
          <p:cNvPr id="10" name="Image 1" descr="preencoded.png">    </p:cNvPr>
          <p:cNvPicPr>
            <a:picLocks noChangeAspect="1"/>
          </p:cNvPicPr>
          <p:nvPr/>
        </p:nvPicPr>
        <p:blipFill>
          <a:blip r:embed="rId2"/>
          <a:stretch>
            <a:fillRect/>
          </a:stretch>
        </p:blipFill>
        <p:spPr>
          <a:xfrm>
            <a:off x="3118104" y="2130552"/>
            <a:ext cx="118872" cy="219456"/>
          </a:xfrm>
          <a:prstGeom prst="rect">
            <a:avLst/>
          </a:prstGeom>
        </p:spPr>
      </p:pic>
      <p:sp>
        <p:nvSpPr>
          <p:cNvPr id="11" name="Shape 7"/>
          <p:cNvSpPr/>
          <p:nvPr/>
        </p:nvSpPr>
        <p:spPr>
          <a:xfrm>
            <a:off x="3246120" y="1554480"/>
            <a:ext cx="265176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12" name="Shape 8"/>
          <p:cNvSpPr/>
          <p:nvPr/>
        </p:nvSpPr>
        <p:spPr>
          <a:xfrm>
            <a:off x="3410712" y="1719072"/>
            <a:ext cx="365760" cy="365760"/>
          </a:xfrm>
          <a:prstGeom prst="ellipse">
            <a:avLst/>
          </a:prstGeom>
          <a:solidFill>
            <a:srgbClr val="1B1F2B"/>
          </a:solidFill>
          <a:ln/>
        </p:spPr>
      </p:sp>
      <p:sp>
        <p:nvSpPr>
          <p:cNvPr id="13" name="Text 9"/>
          <p:cNvSpPr/>
          <p:nvPr/>
        </p:nvSpPr>
        <p:spPr>
          <a:xfrm>
            <a:off x="3410712" y="1719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Shape 10"/>
          <p:cNvSpPr/>
          <p:nvPr/>
        </p:nvSpPr>
        <p:spPr>
          <a:xfrm>
            <a:off x="5212080" y="1719072"/>
            <a:ext cx="411480" cy="411480"/>
          </a:xfrm>
          <a:prstGeom prst="ellipse">
            <a:avLst/>
          </a:prstGeom>
          <a:solidFill>
            <a:srgbClr val="FFE3DC"/>
          </a:solidFill>
          <a:ln/>
        </p:spPr>
      </p:sp>
      <p:pic>
        <p:nvPicPr>
          <p:cNvPr id="15" name="Image 2" descr="preencoded.png">    </p:cNvPr>
          <p:cNvPicPr>
            <a:picLocks noChangeAspect="1"/>
          </p:cNvPicPr>
          <p:nvPr/>
        </p:nvPicPr>
        <p:blipFill>
          <a:blip r:embed="rId3"/>
          <a:stretch>
            <a:fillRect/>
          </a:stretch>
        </p:blipFill>
        <p:spPr>
          <a:xfrm>
            <a:off x="5265572" y="1772564"/>
            <a:ext cx="304495" cy="304495"/>
          </a:xfrm>
          <a:prstGeom prst="rect">
            <a:avLst/>
          </a:prstGeom>
        </p:spPr>
      </p:pic>
      <p:sp>
        <p:nvSpPr>
          <p:cNvPr id="16" name="Text 11"/>
          <p:cNvSpPr/>
          <p:nvPr/>
        </p:nvSpPr>
        <p:spPr>
          <a:xfrm>
            <a:off x="3410712" y="2212848"/>
            <a:ext cx="2286000" cy="640080"/>
          </a:xfrm>
          <a:prstGeom prst="rect">
            <a:avLst/>
          </a:prstGeom>
          <a:noFill/>
          <a:ln/>
        </p:spPr>
        <p:txBody>
          <a:bodyPr wrap="square" lIns="0" tIns="0" rIns="0" bIns="0" rtlCol="0" anchor="ctr"/>
          <a:lstStyle/>
          <a:p>
            <a:pPr indent="0" marL="0">
              <a:buNone/>
            </a:pPr>
            <a:r>
              <a:rPr lang="en-US" sz="1150" dirty="0">
                <a:solidFill>
                  <a:srgbClr val="1B1F2B"/>
                </a:solidFill>
                <a:latin typeface="Calibri" pitchFamily="34" charset="0"/>
                <a:ea typeface="Calibri" pitchFamily="34" charset="-122"/>
                <a:cs typeface="Calibri" pitchFamily="34" charset="-120"/>
              </a:rPr>
              <a:t>Describe what you want in plain English</a:t>
            </a:r>
            <a:endParaRPr lang="en-US" sz="1150" dirty="0"/>
          </a:p>
        </p:txBody>
      </p:sp>
      <p:pic>
        <p:nvPicPr>
          <p:cNvPr id="17" name="Image 3" descr="preencoded.png">    </p:cNvPr>
          <p:cNvPicPr>
            <a:picLocks noChangeAspect="1"/>
          </p:cNvPicPr>
          <p:nvPr/>
        </p:nvPicPr>
        <p:blipFill>
          <a:blip r:embed="rId4"/>
          <a:stretch>
            <a:fillRect/>
          </a:stretch>
        </p:blipFill>
        <p:spPr>
          <a:xfrm>
            <a:off x="5907024" y="2130552"/>
            <a:ext cx="118872" cy="219456"/>
          </a:xfrm>
          <a:prstGeom prst="rect">
            <a:avLst/>
          </a:prstGeom>
        </p:spPr>
      </p:pic>
      <p:sp>
        <p:nvSpPr>
          <p:cNvPr id="18" name="Shape 12"/>
          <p:cNvSpPr/>
          <p:nvPr/>
        </p:nvSpPr>
        <p:spPr>
          <a:xfrm>
            <a:off x="6035040" y="1554480"/>
            <a:ext cx="265176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19" name="Shape 13"/>
          <p:cNvSpPr/>
          <p:nvPr/>
        </p:nvSpPr>
        <p:spPr>
          <a:xfrm>
            <a:off x="6199632" y="1719072"/>
            <a:ext cx="365760" cy="365760"/>
          </a:xfrm>
          <a:prstGeom prst="ellipse">
            <a:avLst/>
          </a:prstGeom>
          <a:solidFill>
            <a:srgbClr val="1B1F2B"/>
          </a:solidFill>
          <a:ln/>
        </p:spPr>
      </p:sp>
      <p:sp>
        <p:nvSpPr>
          <p:cNvPr id="20" name="Text 14"/>
          <p:cNvSpPr/>
          <p:nvPr/>
        </p:nvSpPr>
        <p:spPr>
          <a:xfrm>
            <a:off x="6199632" y="1719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Shape 15"/>
          <p:cNvSpPr/>
          <p:nvPr/>
        </p:nvSpPr>
        <p:spPr>
          <a:xfrm>
            <a:off x="8001000" y="1719072"/>
            <a:ext cx="411480" cy="411480"/>
          </a:xfrm>
          <a:prstGeom prst="ellipse">
            <a:avLst/>
          </a:prstGeom>
          <a:solidFill>
            <a:srgbClr val="FFE3DC"/>
          </a:solidFill>
          <a:ln/>
        </p:spPr>
      </p:sp>
      <p:pic>
        <p:nvPicPr>
          <p:cNvPr id="22" name="Image 4" descr="preencoded.png">    </p:cNvPr>
          <p:cNvPicPr>
            <a:picLocks noChangeAspect="1"/>
          </p:cNvPicPr>
          <p:nvPr/>
        </p:nvPicPr>
        <p:blipFill>
          <a:blip r:embed="rId5"/>
          <a:stretch>
            <a:fillRect/>
          </a:stretch>
        </p:blipFill>
        <p:spPr>
          <a:xfrm>
            <a:off x="8054492" y="1772564"/>
            <a:ext cx="304495" cy="304495"/>
          </a:xfrm>
          <a:prstGeom prst="rect">
            <a:avLst/>
          </a:prstGeom>
        </p:spPr>
      </p:pic>
      <p:sp>
        <p:nvSpPr>
          <p:cNvPr id="23" name="Text 16"/>
          <p:cNvSpPr/>
          <p:nvPr/>
        </p:nvSpPr>
        <p:spPr>
          <a:xfrm>
            <a:off x="6199632" y="2212848"/>
            <a:ext cx="2286000" cy="640080"/>
          </a:xfrm>
          <a:prstGeom prst="rect">
            <a:avLst/>
          </a:prstGeom>
          <a:noFill/>
          <a:ln/>
        </p:spPr>
        <p:txBody>
          <a:bodyPr wrap="square" lIns="0" tIns="0" rIns="0" bIns="0" rtlCol="0" anchor="ctr"/>
          <a:lstStyle/>
          <a:p>
            <a:pPr indent="0" marL="0">
              <a:buNone/>
            </a:pPr>
            <a:r>
              <a:rPr lang="en-US" sz="1150" dirty="0">
                <a:solidFill>
                  <a:srgbClr val="1B1F2B"/>
                </a:solidFill>
                <a:latin typeface="Calibri" pitchFamily="34" charset="0"/>
                <a:ea typeface="Calibri" pitchFamily="34" charset="-122"/>
                <a:cs typeface="Calibri" pitchFamily="34" charset="-120"/>
              </a:rPr>
              <a:t>Copy the generated code</a:t>
            </a:r>
            <a:endParaRPr lang="en-US" sz="1150" dirty="0"/>
          </a:p>
        </p:txBody>
      </p:sp>
      <p:sp>
        <p:nvSpPr>
          <p:cNvPr id="24" name="Shape 17"/>
          <p:cNvSpPr/>
          <p:nvPr/>
        </p:nvSpPr>
        <p:spPr>
          <a:xfrm>
            <a:off x="457200" y="3154680"/>
            <a:ext cx="265176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25" name="Shape 18"/>
          <p:cNvSpPr/>
          <p:nvPr/>
        </p:nvSpPr>
        <p:spPr>
          <a:xfrm>
            <a:off x="621792" y="3319272"/>
            <a:ext cx="365760" cy="365760"/>
          </a:xfrm>
          <a:prstGeom prst="ellipse">
            <a:avLst/>
          </a:prstGeom>
          <a:solidFill>
            <a:srgbClr val="1B1F2B"/>
          </a:solidFill>
          <a:ln/>
        </p:spPr>
      </p:sp>
      <p:sp>
        <p:nvSpPr>
          <p:cNvPr id="26" name="Text 19"/>
          <p:cNvSpPr/>
          <p:nvPr/>
        </p:nvSpPr>
        <p:spPr>
          <a:xfrm>
            <a:off x="621792" y="3319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0"/>
          <p:cNvSpPr/>
          <p:nvPr/>
        </p:nvSpPr>
        <p:spPr>
          <a:xfrm>
            <a:off x="2423160" y="3319272"/>
            <a:ext cx="411480" cy="411480"/>
          </a:xfrm>
          <a:prstGeom prst="ellipse">
            <a:avLst/>
          </a:prstGeom>
          <a:solidFill>
            <a:srgbClr val="FFE3DC"/>
          </a:solidFill>
          <a:ln/>
        </p:spPr>
      </p:sp>
      <p:pic>
        <p:nvPicPr>
          <p:cNvPr id="28" name="Image 5" descr="preencoded.png">    </p:cNvPr>
          <p:cNvPicPr>
            <a:picLocks noChangeAspect="1"/>
          </p:cNvPicPr>
          <p:nvPr/>
        </p:nvPicPr>
        <p:blipFill>
          <a:blip r:embed="rId6"/>
          <a:stretch>
            <a:fillRect/>
          </a:stretch>
        </p:blipFill>
        <p:spPr>
          <a:xfrm>
            <a:off x="2476652" y="3372764"/>
            <a:ext cx="304495" cy="304495"/>
          </a:xfrm>
          <a:prstGeom prst="rect">
            <a:avLst/>
          </a:prstGeom>
        </p:spPr>
      </p:pic>
      <p:sp>
        <p:nvSpPr>
          <p:cNvPr id="29" name="Text 21"/>
          <p:cNvSpPr/>
          <p:nvPr/>
        </p:nvSpPr>
        <p:spPr>
          <a:xfrm>
            <a:off x="621792" y="3813048"/>
            <a:ext cx="2286000" cy="640080"/>
          </a:xfrm>
          <a:prstGeom prst="rect">
            <a:avLst/>
          </a:prstGeom>
          <a:noFill/>
          <a:ln/>
        </p:spPr>
        <p:txBody>
          <a:bodyPr wrap="square" lIns="0" tIns="0" rIns="0" bIns="0" rtlCol="0" anchor="ctr"/>
          <a:lstStyle/>
          <a:p>
            <a:pPr indent="0" marL="0">
              <a:buNone/>
            </a:pPr>
            <a:r>
              <a:rPr lang="en-US" sz="1150" dirty="0">
                <a:solidFill>
                  <a:srgbClr val="1B1F2B"/>
                </a:solidFill>
                <a:latin typeface="Calibri" pitchFamily="34" charset="0"/>
                <a:ea typeface="Calibri" pitchFamily="34" charset="-122"/>
                <a:cs typeface="Calibri" pitchFamily="34" charset="-120"/>
              </a:rPr>
              <a:t>Paste it into a Databricks notebook</a:t>
            </a:r>
            <a:endParaRPr lang="en-US" sz="1150" dirty="0"/>
          </a:p>
        </p:txBody>
      </p:sp>
      <p:pic>
        <p:nvPicPr>
          <p:cNvPr id="30" name="Image 6" descr="preencoded.png">    </p:cNvPr>
          <p:cNvPicPr>
            <a:picLocks noChangeAspect="1"/>
          </p:cNvPicPr>
          <p:nvPr/>
        </p:nvPicPr>
        <p:blipFill>
          <a:blip r:embed="rId7"/>
          <a:stretch>
            <a:fillRect/>
          </a:stretch>
        </p:blipFill>
        <p:spPr>
          <a:xfrm>
            <a:off x="3118104" y="3730752"/>
            <a:ext cx="118872" cy="219456"/>
          </a:xfrm>
          <a:prstGeom prst="rect">
            <a:avLst/>
          </a:prstGeom>
        </p:spPr>
      </p:pic>
      <p:sp>
        <p:nvSpPr>
          <p:cNvPr id="31" name="Shape 22"/>
          <p:cNvSpPr/>
          <p:nvPr/>
        </p:nvSpPr>
        <p:spPr>
          <a:xfrm>
            <a:off x="3246120" y="3154680"/>
            <a:ext cx="265176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32" name="Shape 23"/>
          <p:cNvSpPr/>
          <p:nvPr/>
        </p:nvSpPr>
        <p:spPr>
          <a:xfrm>
            <a:off x="3410712" y="3319272"/>
            <a:ext cx="365760" cy="365760"/>
          </a:xfrm>
          <a:prstGeom prst="ellipse">
            <a:avLst/>
          </a:prstGeom>
          <a:solidFill>
            <a:srgbClr val="1B1F2B"/>
          </a:solidFill>
          <a:ln/>
        </p:spPr>
      </p:sp>
      <p:sp>
        <p:nvSpPr>
          <p:cNvPr id="33" name="Text 24"/>
          <p:cNvSpPr/>
          <p:nvPr/>
        </p:nvSpPr>
        <p:spPr>
          <a:xfrm>
            <a:off x="3410712" y="3319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Shape 25"/>
          <p:cNvSpPr/>
          <p:nvPr/>
        </p:nvSpPr>
        <p:spPr>
          <a:xfrm>
            <a:off x="5212080" y="3319272"/>
            <a:ext cx="411480" cy="411480"/>
          </a:xfrm>
          <a:prstGeom prst="ellipse">
            <a:avLst/>
          </a:prstGeom>
          <a:solidFill>
            <a:srgbClr val="FFE3DC"/>
          </a:solidFill>
          <a:ln/>
        </p:spPr>
      </p:sp>
      <p:pic>
        <p:nvPicPr>
          <p:cNvPr id="35" name="Image 7" descr="preencoded.png">    </p:cNvPr>
          <p:cNvPicPr>
            <a:picLocks noChangeAspect="1"/>
          </p:cNvPicPr>
          <p:nvPr/>
        </p:nvPicPr>
        <p:blipFill>
          <a:blip r:embed="rId8"/>
          <a:stretch>
            <a:fillRect/>
          </a:stretch>
        </p:blipFill>
        <p:spPr>
          <a:xfrm>
            <a:off x="5265572" y="3372764"/>
            <a:ext cx="304495" cy="304495"/>
          </a:xfrm>
          <a:prstGeom prst="rect">
            <a:avLst/>
          </a:prstGeom>
        </p:spPr>
      </p:pic>
      <p:sp>
        <p:nvSpPr>
          <p:cNvPr id="36" name="Text 26"/>
          <p:cNvSpPr/>
          <p:nvPr/>
        </p:nvSpPr>
        <p:spPr>
          <a:xfrm>
            <a:off x="3410712" y="3813048"/>
            <a:ext cx="2286000" cy="640080"/>
          </a:xfrm>
          <a:prstGeom prst="rect">
            <a:avLst/>
          </a:prstGeom>
          <a:noFill/>
          <a:ln/>
        </p:spPr>
        <p:txBody>
          <a:bodyPr wrap="square" lIns="0" tIns="0" rIns="0" bIns="0" rtlCol="0" anchor="ctr"/>
          <a:lstStyle/>
          <a:p>
            <a:pPr indent="0" marL="0">
              <a:buNone/>
            </a:pPr>
            <a:r>
              <a:rPr lang="en-US" sz="1150" dirty="0">
                <a:solidFill>
                  <a:srgbClr val="1B1F2B"/>
                </a:solidFill>
                <a:latin typeface="Calibri" pitchFamily="34" charset="0"/>
                <a:ea typeface="Calibri" pitchFamily="34" charset="-122"/>
                <a:cs typeface="Calibri" pitchFamily="34" charset="-120"/>
              </a:rPr>
              <a:t>Run it — hit an error (wrong table, old API)</a:t>
            </a:r>
            <a:endParaRPr lang="en-US" sz="1150" dirty="0"/>
          </a:p>
        </p:txBody>
      </p:sp>
      <p:pic>
        <p:nvPicPr>
          <p:cNvPr id="37" name="Image 8" descr="preencoded.png">    </p:cNvPr>
          <p:cNvPicPr>
            <a:picLocks noChangeAspect="1"/>
          </p:cNvPicPr>
          <p:nvPr/>
        </p:nvPicPr>
        <p:blipFill>
          <a:blip r:embed="rId9"/>
          <a:stretch>
            <a:fillRect/>
          </a:stretch>
        </p:blipFill>
        <p:spPr>
          <a:xfrm>
            <a:off x="5907024" y="3730752"/>
            <a:ext cx="118872" cy="219456"/>
          </a:xfrm>
          <a:prstGeom prst="rect">
            <a:avLst/>
          </a:prstGeom>
        </p:spPr>
      </p:pic>
      <p:sp>
        <p:nvSpPr>
          <p:cNvPr id="38" name="Shape 27"/>
          <p:cNvSpPr/>
          <p:nvPr/>
        </p:nvSpPr>
        <p:spPr>
          <a:xfrm>
            <a:off x="6035040" y="3154680"/>
            <a:ext cx="2651760" cy="1371600"/>
          </a:xfrm>
          <a:prstGeom prst="roundRect">
            <a:avLst>
              <a:gd name="adj" fmla="val 5333"/>
            </a:avLst>
          </a:prstGeom>
          <a:solidFill>
            <a:srgbClr val="FFFFFF"/>
          </a:solidFill>
          <a:ln/>
          <a:effectLst>
            <a:outerShdw sx="100000" sy="100000" kx="0" ky="0" algn="bl" rotWithShape="0" blurRad="101600" dist="38100" dir="2700000">
              <a:srgbClr val="000000">
                <a:alpha val="12000"/>
              </a:srgbClr>
            </a:outerShdw>
          </a:effectLst>
        </p:spPr>
      </p:sp>
      <p:sp>
        <p:nvSpPr>
          <p:cNvPr id="39" name="Shape 28"/>
          <p:cNvSpPr/>
          <p:nvPr/>
        </p:nvSpPr>
        <p:spPr>
          <a:xfrm>
            <a:off x="6199632" y="3319272"/>
            <a:ext cx="365760" cy="365760"/>
          </a:xfrm>
          <a:prstGeom prst="ellipse">
            <a:avLst/>
          </a:prstGeom>
          <a:solidFill>
            <a:srgbClr val="1B1F2B"/>
          </a:solidFill>
          <a:ln/>
        </p:spPr>
      </p:sp>
      <p:sp>
        <p:nvSpPr>
          <p:cNvPr id="40" name="Text 29"/>
          <p:cNvSpPr/>
          <p:nvPr/>
        </p:nvSpPr>
        <p:spPr>
          <a:xfrm>
            <a:off x="6199632" y="3319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Shape 30"/>
          <p:cNvSpPr/>
          <p:nvPr/>
        </p:nvSpPr>
        <p:spPr>
          <a:xfrm>
            <a:off x="8001000" y="3319272"/>
            <a:ext cx="411480" cy="411480"/>
          </a:xfrm>
          <a:prstGeom prst="ellipse">
            <a:avLst/>
          </a:prstGeom>
          <a:solidFill>
            <a:srgbClr val="FFE3DC"/>
          </a:solidFill>
          <a:ln/>
        </p:spPr>
      </p:sp>
      <p:pic>
        <p:nvPicPr>
          <p:cNvPr id="42" name="Image 9" descr="preencoded.png">    </p:cNvPr>
          <p:cNvPicPr>
            <a:picLocks noChangeAspect="1"/>
          </p:cNvPicPr>
          <p:nvPr/>
        </p:nvPicPr>
        <p:blipFill>
          <a:blip r:embed="rId10"/>
          <a:stretch>
            <a:fillRect/>
          </a:stretch>
        </p:blipFill>
        <p:spPr>
          <a:xfrm>
            <a:off x="8054492" y="3372764"/>
            <a:ext cx="304495" cy="304495"/>
          </a:xfrm>
          <a:prstGeom prst="rect">
            <a:avLst/>
          </a:prstGeom>
        </p:spPr>
      </p:pic>
      <p:sp>
        <p:nvSpPr>
          <p:cNvPr id="43" name="Text 31"/>
          <p:cNvSpPr/>
          <p:nvPr/>
        </p:nvSpPr>
        <p:spPr>
          <a:xfrm>
            <a:off x="6199632" y="3813048"/>
            <a:ext cx="2286000" cy="640080"/>
          </a:xfrm>
          <a:prstGeom prst="rect">
            <a:avLst/>
          </a:prstGeom>
          <a:noFill/>
          <a:ln/>
        </p:spPr>
        <p:txBody>
          <a:bodyPr wrap="square" lIns="0" tIns="0" rIns="0" bIns="0" rtlCol="0" anchor="ctr"/>
          <a:lstStyle/>
          <a:p>
            <a:pPr indent="0" marL="0">
              <a:buNone/>
            </a:pPr>
            <a:r>
              <a:rPr lang="en-US" sz="1150" dirty="0">
                <a:solidFill>
                  <a:srgbClr val="1B1F2B"/>
                </a:solidFill>
                <a:latin typeface="Calibri" pitchFamily="34" charset="0"/>
                <a:ea typeface="Calibri" pitchFamily="34" charset="-122"/>
                <a:cs typeface="Calibri" pitchFamily="34" charset="-120"/>
              </a:rPr>
              <a:t>Debug by hand, with no platform context</a:t>
            </a:r>
            <a:endParaRPr lang="en-US" sz="1150" dirty="0"/>
          </a:p>
        </p:txBody>
      </p:sp>
      <p:sp>
        <p:nvSpPr>
          <p:cNvPr id="44" name="Text 32"/>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Databricks AI Dev Kit · Platform Engineering Demo</a:t>
            </a:r>
            <a:endParaRPr lang="en-US" sz="900" dirty="0"/>
          </a:p>
        </p:txBody>
      </p:sp>
      <p:sp>
        <p:nvSpPr>
          <p:cNvPr id="45" name="Text 33"/>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B1F2B"/>
                </a:solidFill>
                <a:latin typeface="Cambria" pitchFamily="34" charset="0"/>
                <a:ea typeface="Cambria" pitchFamily="34" charset="-122"/>
                <a:cs typeface="Cambria" pitchFamily="34" charset="-120"/>
              </a:rPr>
              <a:t>Meet the AI Dev Kit</a:t>
            </a:r>
            <a:endParaRPr lang="en-US" sz="30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One upgrade to the AI tools your team already uses — nothing new to learn.</a:t>
            </a:r>
            <a:endParaRPr lang="en-US" sz="1400" dirty="0"/>
          </a:p>
        </p:txBody>
      </p:sp>
      <p:sp>
        <p:nvSpPr>
          <p:cNvPr id="4" name="Shape 2"/>
          <p:cNvSpPr/>
          <p:nvPr/>
        </p:nvSpPr>
        <p:spPr>
          <a:xfrm>
            <a:off x="457200" y="1554480"/>
            <a:ext cx="2587752" cy="2331720"/>
          </a:xfrm>
          <a:prstGeom prst="roundRect">
            <a:avLst>
              <a:gd name="adj" fmla="val 3922"/>
            </a:avLst>
          </a:prstGeom>
          <a:solidFill>
            <a:srgbClr val="F4F4F6"/>
          </a:solidFill>
          <a:ln/>
          <a:effectLst>
            <a:outerShdw sx="100000" sy="100000" kx="0" ky="0" algn="bl" rotWithShape="0" blurRad="101600" dist="38100" dir="2700000">
              <a:srgbClr val="000000">
                <a:alpha val="12000"/>
              </a:srgbClr>
            </a:outerShdw>
          </a:effectLst>
        </p:spPr>
      </p:sp>
      <p:sp>
        <p:nvSpPr>
          <p:cNvPr id="5" name="Shape 3"/>
          <p:cNvSpPr/>
          <p:nvPr/>
        </p:nvSpPr>
        <p:spPr>
          <a:xfrm>
            <a:off x="1385316" y="1874520"/>
            <a:ext cx="731520" cy="731520"/>
          </a:xfrm>
          <a:prstGeom prst="ellipse">
            <a:avLst/>
          </a:prstGeom>
          <a:solidFill>
            <a:srgbClr val="FFE3DC"/>
          </a:solidFill>
          <a:ln/>
        </p:spPr>
      </p:sp>
      <p:pic>
        <p:nvPicPr>
          <p:cNvPr id="6" name="Image 0" descr="preencoded.png">    </p:cNvPr>
          <p:cNvPicPr>
            <a:picLocks noChangeAspect="1"/>
          </p:cNvPicPr>
          <p:nvPr/>
        </p:nvPicPr>
        <p:blipFill>
          <a:blip r:embed="rId1"/>
          <a:stretch>
            <a:fillRect/>
          </a:stretch>
        </p:blipFill>
        <p:spPr>
          <a:xfrm>
            <a:off x="1480414" y="1969618"/>
            <a:ext cx="541325" cy="541325"/>
          </a:xfrm>
          <a:prstGeom prst="rect">
            <a:avLst/>
          </a:prstGeom>
        </p:spPr>
      </p:pic>
      <p:sp>
        <p:nvSpPr>
          <p:cNvPr id="7" name="Text 4"/>
          <p:cNvSpPr/>
          <p:nvPr/>
        </p:nvSpPr>
        <p:spPr>
          <a:xfrm>
            <a:off x="640080" y="2788920"/>
            <a:ext cx="2221992" cy="457200"/>
          </a:xfrm>
          <a:prstGeom prst="rect">
            <a:avLst/>
          </a:prstGeom>
          <a:noFill/>
          <a:ln/>
        </p:spPr>
        <p:txBody>
          <a:bodyPr wrap="square" lIns="0" tIns="0" rIns="0" bIns="0" rtlCol="0" anchor="ctr"/>
          <a:lstStyle/>
          <a:p>
            <a:pPr algn="ctr" indent="0" marL="0">
              <a:buNone/>
            </a:pPr>
            <a:r>
              <a:rPr lang="en-US" sz="1550" b="1" dirty="0">
                <a:solidFill>
                  <a:srgbClr val="1B1F2B"/>
                </a:solidFill>
                <a:latin typeface="Calibri" pitchFamily="34" charset="0"/>
                <a:ea typeface="Calibri" pitchFamily="34" charset="-122"/>
                <a:cs typeface="Calibri" pitchFamily="34" charset="-120"/>
              </a:rPr>
              <a:t>Sees Your Real Data</a:t>
            </a:r>
            <a:endParaRPr lang="en-US" sz="1550" dirty="0"/>
          </a:p>
        </p:txBody>
      </p:sp>
      <p:sp>
        <p:nvSpPr>
          <p:cNvPr id="8" name="Text 5"/>
          <p:cNvSpPr/>
          <p:nvPr/>
        </p:nvSpPr>
        <p:spPr>
          <a:xfrm>
            <a:off x="731520" y="3246120"/>
            <a:ext cx="2039112" cy="594360"/>
          </a:xfrm>
          <a:prstGeom prst="rect">
            <a:avLst/>
          </a:prstGeom>
          <a:noFill/>
          <a:ln/>
        </p:spPr>
        <p:txBody>
          <a:bodyPr wrap="square" lIns="0" tIns="0" rIns="0" bIns="0" rtlCol="0" anchor="ctr"/>
          <a:lstStyle/>
          <a:p>
            <a:pPr algn="ctr" indent="0" marL="0">
              <a:buNone/>
            </a:pPr>
            <a:r>
              <a:rPr lang="en-US" sz="1100" dirty="0">
                <a:solidFill>
                  <a:srgbClr val="5C6470"/>
                </a:solidFill>
                <a:latin typeface="Calibri" pitchFamily="34" charset="0"/>
                <a:ea typeface="Calibri" pitchFamily="34" charset="-122"/>
                <a:cs typeface="Calibri" pitchFamily="34" charset="-120"/>
              </a:rPr>
              <a:t>Knows your actual tables, schemas, and clusters — not guesses.</a:t>
            </a:r>
            <a:endParaRPr lang="en-US" sz="1100" dirty="0"/>
          </a:p>
        </p:txBody>
      </p:sp>
      <p:sp>
        <p:nvSpPr>
          <p:cNvPr id="9" name="Shape 6"/>
          <p:cNvSpPr/>
          <p:nvPr/>
        </p:nvSpPr>
        <p:spPr>
          <a:xfrm>
            <a:off x="3273552" y="1554480"/>
            <a:ext cx="2587752" cy="2331720"/>
          </a:xfrm>
          <a:prstGeom prst="roundRect">
            <a:avLst>
              <a:gd name="adj" fmla="val 3922"/>
            </a:avLst>
          </a:prstGeom>
          <a:solidFill>
            <a:srgbClr val="F4F4F6"/>
          </a:solidFill>
          <a:ln/>
          <a:effectLst>
            <a:outerShdw sx="100000" sy="100000" kx="0" ky="0" algn="bl" rotWithShape="0" blurRad="101600" dist="38100" dir="2700000">
              <a:srgbClr val="000000">
                <a:alpha val="12000"/>
              </a:srgbClr>
            </a:outerShdw>
          </a:effectLst>
        </p:spPr>
      </p:sp>
      <p:sp>
        <p:nvSpPr>
          <p:cNvPr id="10" name="Shape 7"/>
          <p:cNvSpPr/>
          <p:nvPr/>
        </p:nvSpPr>
        <p:spPr>
          <a:xfrm>
            <a:off x="4201668" y="1874520"/>
            <a:ext cx="731520" cy="731520"/>
          </a:xfrm>
          <a:prstGeom prst="ellipse">
            <a:avLst/>
          </a:prstGeom>
          <a:solidFill>
            <a:srgbClr val="FFE3DC"/>
          </a:solidFill>
          <a:ln/>
        </p:spPr>
      </p:sp>
      <p:pic>
        <p:nvPicPr>
          <p:cNvPr id="11" name="Image 1" descr="preencoded.png">    </p:cNvPr>
          <p:cNvPicPr>
            <a:picLocks noChangeAspect="1"/>
          </p:cNvPicPr>
          <p:nvPr/>
        </p:nvPicPr>
        <p:blipFill>
          <a:blip r:embed="rId2"/>
          <a:stretch>
            <a:fillRect/>
          </a:stretch>
        </p:blipFill>
        <p:spPr>
          <a:xfrm>
            <a:off x="4296766" y="1969618"/>
            <a:ext cx="541325" cy="541325"/>
          </a:xfrm>
          <a:prstGeom prst="rect">
            <a:avLst/>
          </a:prstGeom>
        </p:spPr>
      </p:pic>
      <p:sp>
        <p:nvSpPr>
          <p:cNvPr id="12" name="Text 8"/>
          <p:cNvSpPr/>
          <p:nvPr/>
        </p:nvSpPr>
        <p:spPr>
          <a:xfrm>
            <a:off x="3456432" y="2788920"/>
            <a:ext cx="2221992" cy="457200"/>
          </a:xfrm>
          <a:prstGeom prst="rect">
            <a:avLst/>
          </a:prstGeom>
          <a:noFill/>
          <a:ln/>
        </p:spPr>
        <p:txBody>
          <a:bodyPr wrap="square" lIns="0" tIns="0" rIns="0" bIns="0" rtlCol="0" anchor="ctr"/>
          <a:lstStyle/>
          <a:p>
            <a:pPr algn="ctr" indent="0" marL="0">
              <a:buNone/>
            </a:pPr>
            <a:r>
              <a:rPr lang="en-US" sz="1550" b="1" dirty="0">
                <a:solidFill>
                  <a:srgbClr val="1B1F2B"/>
                </a:solidFill>
                <a:latin typeface="Calibri" pitchFamily="34" charset="0"/>
                <a:ea typeface="Calibri" pitchFamily="34" charset="-122"/>
                <a:cs typeface="Calibri" pitchFamily="34" charset="-120"/>
              </a:rPr>
              <a:t>Knows the Right Way</a:t>
            </a:r>
            <a:endParaRPr lang="en-US" sz="1550" dirty="0"/>
          </a:p>
        </p:txBody>
      </p:sp>
      <p:sp>
        <p:nvSpPr>
          <p:cNvPr id="13" name="Text 9"/>
          <p:cNvSpPr/>
          <p:nvPr/>
        </p:nvSpPr>
        <p:spPr>
          <a:xfrm>
            <a:off x="3547872" y="3246120"/>
            <a:ext cx="2039112" cy="594360"/>
          </a:xfrm>
          <a:prstGeom prst="rect">
            <a:avLst/>
          </a:prstGeom>
          <a:noFill/>
          <a:ln/>
        </p:spPr>
        <p:txBody>
          <a:bodyPr wrap="square" lIns="0" tIns="0" rIns="0" bIns="0" rtlCol="0" anchor="ctr"/>
          <a:lstStyle/>
          <a:p>
            <a:pPr algn="ctr" indent="0" marL="0">
              <a:buNone/>
            </a:pPr>
            <a:r>
              <a:rPr lang="en-US" sz="1100" dirty="0">
                <a:solidFill>
                  <a:srgbClr val="5C6470"/>
                </a:solidFill>
                <a:latin typeface="Calibri" pitchFamily="34" charset="0"/>
                <a:ea typeface="Calibri" pitchFamily="34" charset="-122"/>
                <a:cs typeface="Calibri" pitchFamily="34" charset="-120"/>
              </a:rPr>
              <a:t>Built-in best practices from Databricks engineers, in every suggestion.</a:t>
            </a:r>
            <a:endParaRPr lang="en-US" sz="1100" dirty="0"/>
          </a:p>
        </p:txBody>
      </p:sp>
      <p:sp>
        <p:nvSpPr>
          <p:cNvPr id="14" name="Shape 10"/>
          <p:cNvSpPr/>
          <p:nvPr/>
        </p:nvSpPr>
        <p:spPr>
          <a:xfrm>
            <a:off x="6089904" y="1554480"/>
            <a:ext cx="2587752" cy="2331720"/>
          </a:xfrm>
          <a:prstGeom prst="roundRect">
            <a:avLst>
              <a:gd name="adj" fmla="val 3922"/>
            </a:avLst>
          </a:prstGeom>
          <a:solidFill>
            <a:srgbClr val="F4F4F6"/>
          </a:solidFill>
          <a:ln/>
          <a:effectLst>
            <a:outerShdw sx="100000" sy="100000" kx="0" ky="0" algn="bl" rotWithShape="0" blurRad="101600" dist="38100" dir="2700000">
              <a:srgbClr val="000000">
                <a:alpha val="12000"/>
              </a:srgbClr>
            </a:outerShdw>
          </a:effectLst>
        </p:spPr>
      </p:sp>
      <p:sp>
        <p:nvSpPr>
          <p:cNvPr id="15" name="Shape 11"/>
          <p:cNvSpPr/>
          <p:nvPr/>
        </p:nvSpPr>
        <p:spPr>
          <a:xfrm>
            <a:off x="7018020" y="1874520"/>
            <a:ext cx="731520" cy="731520"/>
          </a:xfrm>
          <a:prstGeom prst="ellipse">
            <a:avLst/>
          </a:prstGeom>
          <a:solidFill>
            <a:srgbClr val="FFE3DC"/>
          </a:solidFill>
          <a:ln/>
        </p:spPr>
      </p:sp>
      <p:pic>
        <p:nvPicPr>
          <p:cNvPr id="16" name="Image 2" descr="preencoded.png">    </p:cNvPr>
          <p:cNvPicPr>
            <a:picLocks noChangeAspect="1"/>
          </p:cNvPicPr>
          <p:nvPr/>
        </p:nvPicPr>
        <p:blipFill>
          <a:blip r:embed="rId3"/>
          <a:stretch>
            <a:fillRect/>
          </a:stretch>
        </p:blipFill>
        <p:spPr>
          <a:xfrm>
            <a:off x="7113118" y="1969618"/>
            <a:ext cx="541325" cy="541325"/>
          </a:xfrm>
          <a:prstGeom prst="rect">
            <a:avLst/>
          </a:prstGeom>
        </p:spPr>
      </p:pic>
      <p:sp>
        <p:nvSpPr>
          <p:cNvPr id="17" name="Text 12"/>
          <p:cNvSpPr/>
          <p:nvPr/>
        </p:nvSpPr>
        <p:spPr>
          <a:xfrm>
            <a:off x="6272784" y="2788920"/>
            <a:ext cx="2221992" cy="457200"/>
          </a:xfrm>
          <a:prstGeom prst="rect">
            <a:avLst/>
          </a:prstGeom>
          <a:noFill/>
          <a:ln/>
        </p:spPr>
        <p:txBody>
          <a:bodyPr wrap="square" lIns="0" tIns="0" rIns="0" bIns="0" rtlCol="0" anchor="ctr"/>
          <a:lstStyle/>
          <a:p>
            <a:pPr algn="ctr" indent="0" marL="0">
              <a:buNone/>
            </a:pPr>
            <a:r>
              <a:rPr lang="en-US" sz="1550" b="1" dirty="0">
                <a:solidFill>
                  <a:srgbClr val="1B1F2B"/>
                </a:solidFill>
                <a:latin typeface="Calibri" pitchFamily="34" charset="0"/>
                <a:ea typeface="Calibri" pitchFamily="34" charset="-122"/>
                <a:cs typeface="Calibri" pitchFamily="34" charset="-120"/>
              </a:rPr>
              <a:t>Fits Your Workflow</a:t>
            </a:r>
            <a:endParaRPr lang="en-US" sz="1550" dirty="0"/>
          </a:p>
        </p:txBody>
      </p:sp>
      <p:sp>
        <p:nvSpPr>
          <p:cNvPr id="18" name="Text 13"/>
          <p:cNvSpPr/>
          <p:nvPr/>
        </p:nvSpPr>
        <p:spPr>
          <a:xfrm>
            <a:off x="6364224" y="3246120"/>
            <a:ext cx="2039112" cy="594360"/>
          </a:xfrm>
          <a:prstGeom prst="rect">
            <a:avLst/>
          </a:prstGeom>
          <a:noFill/>
          <a:ln/>
        </p:spPr>
        <p:txBody>
          <a:bodyPr wrap="square" lIns="0" tIns="0" rIns="0" bIns="0" rtlCol="0" anchor="ctr"/>
          <a:lstStyle/>
          <a:p>
            <a:pPr algn="ctr" indent="0" marL="0">
              <a:buNone/>
            </a:pPr>
            <a:r>
              <a:rPr lang="en-US" sz="1100" dirty="0">
                <a:solidFill>
                  <a:srgbClr val="5C6470"/>
                </a:solidFill>
                <a:latin typeface="Calibri" pitchFamily="34" charset="0"/>
                <a:ea typeface="Calibri" pitchFamily="34" charset="-122"/>
                <a:cs typeface="Calibri" pitchFamily="34" charset="-120"/>
              </a:rPr>
              <a:t>Works right inside Copilot, Cursor, or whatever you already code in.</a:t>
            </a:r>
            <a:endParaRPr lang="en-US" sz="1100" dirty="0"/>
          </a:p>
        </p:txBody>
      </p:sp>
      <p:sp>
        <p:nvSpPr>
          <p:cNvPr id="19" name="Text 14"/>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Databricks AI Dev Kit · Platform Engineering Demo</a:t>
            </a:r>
            <a:endParaRPr lang="en-US" sz="900" dirty="0"/>
          </a:p>
        </p:txBody>
      </p:sp>
      <p:sp>
        <p:nvSpPr>
          <p:cNvPr id="20" name="Text 15"/>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F2B"/>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New Way — GitHub Copilot + AI Dev Kit</a:t>
            </a:r>
            <a:endParaRPr lang="en-US" sz="28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400" i="1" dirty="0">
                <a:solidFill>
                  <a:srgbClr val="AEB4C2"/>
                </a:solidFill>
                <a:latin typeface="Calibri" pitchFamily="34" charset="0"/>
                <a:ea typeface="Calibri" pitchFamily="34" charset="-122"/>
                <a:cs typeface="Calibri" pitchFamily="34" charset="-120"/>
              </a:rPr>
              <a:t>Same Copilot. Now grounded in your real Databricks workspace.</a:t>
            </a:r>
            <a:endParaRPr lang="en-US" sz="1400" dirty="0"/>
          </a:p>
        </p:txBody>
      </p:sp>
      <p:sp>
        <p:nvSpPr>
          <p:cNvPr id="4" name="Shape 2"/>
          <p:cNvSpPr/>
          <p:nvPr/>
        </p:nvSpPr>
        <p:spPr>
          <a:xfrm>
            <a:off x="457200" y="1417320"/>
            <a:ext cx="2651760" cy="1371600"/>
          </a:xfrm>
          <a:prstGeom prst="roundRect">
            <a:avLst>
              <a:gd name="adj" fmla="val 5333"/>
            </a:avLst>
          </a:prstGeom>
          <a:solidFill>
            <a:srgbClr val="262C3D"/>
          </a:solidFill>
          <a:ln/>
        </p:spPr>
      </p:sp>
      <p:sp>
        <p:nvSpPr>
          <p:cNvPr id="5" name="Shape 3"/>
          <p:cNvSpPr/>
          <p:nvPr/>
        </p:nvSpPr>
        <p:spPr>
          <a:xfrm>
            <a:off x="621792" y="1581912"/>
            <a:ext cx="365760" cy="365760"/>
          </a:xfrm>
          <a:prstGeom prst="ellipse">
            <a:avLst/>
          </a:prstGeom>
          <a:solidFill>
            <a:srgbClr val="FF3621"/>
          </a:solidFill>
          <a:ln/>
        </p:spPr>
      </p:sp>
      <p:sp>
        <p:nvSpPr>
          <p:cNvPr id="6" name="Text 4"/>
          <p:cNvSpPr/>
          <p:nvPr/>
        </p:nvSpPr>
        <p:spPr>
          <a:xfrm>
            <a:off x="621792" y="15819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2423160" y="1581912"/>
            <a:ext cx="411480" cy="411480"/>
          </a:xfrm>
          <a:prstGeom prst="ellipse">
            <a:avLst/>
          </a:prstGeom>
          <a:solidFill>
            <a:srgbClr val="323A50"/>
          </a:solidFill>
          <a:ln/>
        </p:spPr>
      </p:sp>
      <p:pic>
        <p:nvPicPr>
          <p:cNvPr id="8" name="Image 0" descr="preencoded.png">    </p:cNvPr>
          <p:cNvPicPr>
            <a:picLocks noChangeAspect="1"/>
          </p:cNvPicPr>
          <p:nvPr/>
        </p:nvPicPr>
        <p:blipFill>
          <a:blip r:embed="rId1"/>
          <a:stretch>
            <a:fillRect/>
          </a:stretch>
        </p:blipFill>
        <p:spPr>
          <a:xfrm>
            <a:off x="2476652" y="1635404"/>
            <a:ext cx="304495" cy="304495"/>
          </a:xfrm>
          <a:prstGeom prst="rect">
            <a:avLst/>
          </a:prstGeom>
        </p:spPr>
      </p:pic>
      <p:sp>
        <p:nvSpPr>
          <p:cNvPr id="9" name="Text 6"/>
          <p:cNvSpPr/>
          <p:nvPr/>
        </p:nvSpPr>
        <p:spPr>
          <a:xfrm>
            <a:off x="621792" y="2075688"/>
            <a:ext cx="2286000" cy="6583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Admin installs AI Dev Kit once per project (one command)</a:t>
            </a:r>
            <a:endParaRPr lang="en-US" sz="1100" dirty="0"/>
          </a:p>
        </p:txBody>
      </p:sp>
      <p:pic>
        <p:nvPicPr>
          <p:cNvPr id="10" name="Image 1" descr="preencoded.png">    </p:cNvPr>
          <p:cNvPicPr>
            <a:picLocks noChangeAspect="1"/>
          </p:cNvPicPr>
          <p:nvPr/>
        </p:nvPicPr>
        <p:blipFill>
          <a:blip r:embed="rId2"/>
          <a:stretch>
            <a:fillRect/>
          </a:stretch>
        </p:blipFill>
        <p:spPr>
          <a:xfrm>
            <a:off x="3118104" y="1993392"/>
            <a:ext cx="118872" cy="219456"/>
          </a:xfrm>
          <a:prstGeom prst="rect">
            <a:avLst/>
          </a:prstGeom>
        </p:spPr>
      </p:pic>
      <p:sp>
        <p:nvSpPr>
          <p:cNvPr id="11" name="Shape 7"/>
          <p:cNvSpPr/>
          <p:nvPr/>
        </p:nvSpPr>
        <p:spPr>
          <a:xfrm>
            <a:off x="3246120" y="1417320"/>
            <a:ext cx="2651760" cy="1371600"/>
          </a:xfrm>
          <a:prstGeom prst="roundRect">
            <a:avLst>
              <a:gd name="adj" fmla="val 5333"/>
            </a:avLst>
          </a:prstGeom>
          <a:solidFill>
            <a:srgbClr val="262C3D"/>
          </a:solidFill>
          <a:ln/>
        </p:spPr>
      </p:sp>
      <p:sp>
        <p:nvSpPr>
          <p:cNvPr id="12" name="Shape 8"/>
          <p:cNvSpPr/>
          <p:nvPr/>
        </p:nvSpPr>
        <p:spPr>
          <a:xfrm>
            <a:off x="3410712" y="1581912"/>
            <a:ext cx="365760" cy="365760"/>
          </a:xfrm>
          <a:prstGeom prst="ellipse">
            <a:avLst/>
          </a:prstGeom>
          <a:solidFill>
            <a:srgbClr val="FF3621"/>
          </a:solidFill>
          <a:ln/>
        </p:spPr>
      </p:sp>
      <p:sp>
        <p:nvSpPr>
          <p:cNvPr id="13" name="Text 9"/>
          <p:cNvSpPr/>
          <p:nvPr/>
        </p:nvSpPr>
        <p:spPr>
          <a:xfrm>
            <a:off x="3410712" y="15819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Shape 10"/>
          <p:cNvSpPr/>
          <p:nvPr/>
        </p:nvSpPr>
        <p:spPr>
          <a:xfrm>
            <a:off x="5212080" y="1581912"/>
            <a:ext cx="411480" cy="411480"/>
          </a:xfrm>
          <a:prstGeom prst="ellipse">
            <a:avLst/>
          </a:prstGeom>
          <a:solidFill>
            <a:srgbClr val="323A50"/>
          </a:solidFill>
          <a:ln/>
        </p:spPr>
      </p:sp>
      <p:pic>
        <p:nvPicPr>
          <p:cNvPr id="15" name="Image 2" descr="preencoded.png">    </p:cNvPr>
          <p:cNvPicPr>
            <a:picLocks noChangeAspect="1"/>
          </p:cNvPicPr>
          <p:nvPr/>
        </p:nvPicPr>
        <p:blipFill>
          <a:blip r:embed="rId3"/>
          <a:stretch>
            <a:fillRect/>
          </a:stretch>
        </p:blipFill>
        <p:spPr>
          <a:xfrm>
            <a:off x="5265572" y="1635404"/>
            <a:ext cx="304495" cy="304495"/>
          </a:xfrm>
          <a:prstGeom prst="rect">
            <a:avLst/>
          </a:prstGeom>
        </p:spPr>
      </p:pic>
      <p:sp>
        <p:nvSpPr>
          <p:cNvPr id="16" name="Text 11"/>
          <p:cNvSpPr/>
          <p:nvPr/>
        </p:nvSpPr>
        <p:spPr>
          <a:xfrm>
            <a:off x="3410712" y="2075688"/>
            <a:ext cx="2286000" cy="6583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Open the project in VS Code — Copilot Chat is now Databricks-aware</a:t>
            </a:r>
            <a:endParaRPr lang="en-US" sz="1100" dirty="0"/>
          </a:p>
        </p:txBody>
      </p:sp>
      <p:pic>
        <p:nvPicPr>
          <p:cNvPr id="17" name="Image 3" descr="preencoded.png">    </p:cNvPr>
          <p:cNvPicPr>
            <a:picLocks noChangeAspect="1"/>
          </p:cNvPicPr>
          <p:nvPr/>
        </p:nvPicPr>
        <p:blipFill>
          <a:blip r:embed="rId4"/>
          <a:stretch>
            <a:fillRect/>
          </a:stretch>
        </p:blipFill>
        <p:spPr>
          <a:xfrm>
            <a:off x="5907024" y="1993392"/>
            <a:ext cx="118872" cy="219456"/>
          </a:xfrm>
          <a:prstGeom prst="rect">
            <a:avLst/>
          </a:prstGeom>
        </p:spPr>
      </p:pic>
      <p:sp>
        <p:nvSpPr>
          <p:cNvPr id="18" name="Shape 12"/>
          <p:cNvSpPr/>
          <p:nvPr/>
        </p:nvSpPr>
        <p:spPr>
          <a:xfrm>
            <a:off x="6035040" y="1417320"/>
            <a:ext cx="2651760" cy="1371600"/>
          </a:xfrm>
          <a:prstGeom prst="roundRect">
            <a:avLst>
              <a:gd name="adj" fmla="val 5333"/>
            </a:avLst>
          </a:prstGeom>
          <a:solidFill>
            <a:srgbClr val="262C3D"/>
          </a:solidFill>
          <a:ln/>
        </p:spPr>
      </p:sp>
      <p:sp>
        <p:nvSpPr>
          <p:cNvPr id="19" name="Shape 13"/>
          <p:cNvSpPr/>
          <p:nvPr/>
        </p:nvSpPr>
        <p:spPr>
          <a:xfrm>
            <a:off x="6199632" y="1581912"/>
            <a:ext cx="365760" cy="365760"/>
          </a:xfrm>
          <a:prstGeom prst="ellipse">
            <a:avLst/>
          </a:prstGeom>
          <a:solidFill>
            <a:srgbClr val="FF3621"/>
          </a:solidFill>
          <a:ln/>
        </p:spPr>
      </p:sp>
      <p:sp>
        <p:nvSpPr>
          <p:cNvPr id="20" name="Text 14"/>
          <p:cNvSpPr/>
          <p:nvPr/>
        </p:nvSpPr>
        <p:spPr>
          <a:xfrm>
            <a:off x="6199632" y="15819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Shape 15"/>
          <p:cNvSpPr/>
          <p:nvPr/>
        </p:nvSpPr>
        <p:spPr>
          <a:xfrm>
            <a:off x="8001000" y="1581912"/>
            <a:ext cx="411480" cy="411480"/>
          </a:xfrm>
          <a:prstGeom prst="ellipse">
            <a:avLst/>
          </a:prstGeom>
          <a:solidFill>
            <a:srgbClr val="323A50"/>
          </a:solidFill>
          <a:ln/>
        </p:spPr>
      </p:sp>
      <p:pic>
        <p:nvPicPr>
          <p:cNvPr id="22" name="Image 4" descr="preencoded.png">    </p:cNvPr>
          <p:cNvPicPr>
            <a:picLocks noChangeAspect="1"/>
          </p:cNvPicPr>
          <p:nvPr/>
        </p:nvPicPr>
        <p:blipFill>
          <a:blip r:embed="rId5"/>
          <a:stretch>
            <a:fillRect/>
          </a:stretch>
        </p:blipFill>
        <p:spPr>
          <a:xfrm>
            <a:off x="8054492" y="1635404"/>
            <a:ext cx="304495" cy="304495"/>
          </a:xfrm>
          <a:prstGeom prst="rect">
            <a:avLst/>
          </a:prstGeom>
        </p:spPr>
      </p:pic>
      <p:sp>
        <p:nvSpPr>
          <p:cNvPr id="23" name="Text 16"/>
          <p:cNvSpPr/>
          <p:nvPr/>
        </p:nvSpPr>
        <p:spPr>
          <a:xfrm>
            <a:off x="6199632" y="2075688"/>
            <a:ext cx="2286000" cy="6583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Ask Copilot in plain English what to build</a:t>
            </a:r>
            <a:endParaRPr lang="en-US" sz="1100" dirty="0"/>
          </a:p>
        </p:txBody>
      </p:sp>
      <p:sp>
        <p:nvSpPr>
          <p:cNvPr id="24" name="Shape 17"/>
          <p:cNvSpPr/>
          <p:nvPr/>
        </p:nvSpPr>
        <p:spPr>
          <a:xfrm>
            <a:off x="457200" y="3017520"/>
            <a:ext cx="2651760" cy="1371600"/>
          </a:xfrm>
          <a:prstGeom prst="roundRect">
            <a:avLst>
              <a:gd name="adj" fmla="val 5333"/>
            </a:avLst>
          </a:prstGeom>
          <a:solidFill>
            <a:srgbClr val="262C3D"/>
          </a:solidFill>
          <a:ln/>
        </p:spPr>
      </p:sp>
      <p:sp>
        <p:nvSpPr>
          <p:cNvPr id="25" name="Shape 18"/>
          <p:cNvSpPr/>
          <p:nvPr/>
        </p:nvSpPr>
        <p:spPr>
          <a:xfrm>
            <a:off x="621792" y="3182112"/>
            <a:ext cx="365760" cy="365760"/>
          </a:xfrm>
          <a:prstGeom prst="ellipse">
            <a:avLst/>
          </a:prstGeom>
          <a:solidFill>
            <a:srgbClr val="FF3621"/>
          </a:solidFill>
          <a:ln/>
        </p:spPr>
      </p:sp>
      <p:sp>
        <p:nvSpPr>
          <p:cNvPr id="26" name="Text 19"/>
          <p:cNvSpPr/>
          <p:nvPr/>
        </p:nvSpPr>
        <p:spPr>
          <a:xfrm>
            <a:off x="621792" y="3182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0"/>
          <p:cNvSpPr/>
          <p:nvPr/>
        </p:nvSpPr>
        <p:spPr>
          <a:xfrm>
            <a:off x="2423160" y="3182112"/>
            <a:ext cx="411480" cy="411480"/>
          </a:xfrm>
          <a:prstGeom prst="ellipse">
            <a:avLst/>
          </a:prstGeom>
          <a:solidFill>
            <a:srgbClr val="323A50"/>
          </a:solidFill>
          <a:ln/>
        </p:spPr>
      </p:sp>
      <p:pic>
        <p:nvPicPr>
          <p:cNvPr id="28" name="Image 5" descr="preencoded.png">    </p:cNvPr>
          <p:cNvPicPr>
            <a:picLocks noChangeAspect="1"/>
          </p:cNvPicPr>
          <p:nvPr/>
        </p:nvPicPr>
        <p:blipFill>
          <a:blip r:embed="rId6"/>
          <a:stretch>
            <a:fillRect/>
          </a:stretch>
        </p:blipFill>
        <p:spPr>
          <a:xfrm>
            <a:off x="2476652" y="3235604"/>
            <a:ext cx="304495" cy="304495"/>
          </a:xfrm>
          <a:prstGeom prst="rect">
            <a:avLst/>
          </a:prstGeom>
        </p:spPr>
      </p:pic>
      <p:sp>
        <p:nvSpPr>
          <p:cNvPr id="29" name="Text 21"/>
          <p:cNvSpPr/>
          <p:nvPr/>
        </p:nvSpPr>
        <p:spPr>
          <a:xfrm>
            <a:off x="621792" y="3675888"/>
            <a:ext cx="2286000" cy="6583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Copilot checks your real tables &amp; clusters automatically</a:t>
            </a:r>
            <a:endParaRPr lang="en-US" sz="1100" dirty="0"/>
          </a:p>
        </p:txBody>
      </p:sp>
      <p:pic>
        <p:nvPicPr>
          <p:cNvPr id="30" name="Image 6" descr="preencoded.png">    </p:cNvPr>
          <p:cNvPicPr>
            <a:picLocks noChangeAspect="1"/>
          </p:cNvPicPr>
          <p:nvPr/>
        </p:nvPicPr>
        <p:blipFill>
          <a:blip r:embed="rId7"/>
          <a:stretch>
            <a:fillRect/>
          </a:stretch>
        </p:blipFill>
        <p:spPr>
          <a:xfrm>
            <a:off x="3118104" y="3593592"/>
            <a:ext cx="118872" cy="219456"/>
          </a:xfrm>
          <a:prstGeom prst="rect">
            <a:avLst/>
          </a:prstGeom>
        </p:spPr>
      </p:pic>
      <p:sp>
        <p:nvSpPr>
          <p:cNvPr id="31" name="Shape 22"/>
          <p:cNvSpPr/>
          <p:nvPr/>
        </p:nvSpPr>
        <p:spPr>
          <a:xfrm>
            <a:off x="3246120" y="3017520"/>
            <a:ext cx="2651760" cy="1371600"/>
          </a:xfrm>
          <a:prstGeom prst="roundRect">
            <a:avLst>
              <a:gd name="adj" fmla="val 5333"/>
            </a:avLst>
          </a:prstGeom>
          <a:solidFill>
            <a:srgbClr val="262C3D"/>
          </a:solidFill>
          <a:ln/>
        </p:spPr>
      </p:sp>
      <p:sp>
        <p:nvSpPr>
          <p:cNvPr id="32" name="Shape 23"/>
          <p:cNvSpPr/>
          <p:nvPr/>
        </p:nvSpPr>
        <p:spPr>
          <a:xfrm>
            <a:off x="3410712" y="3182112"/>
            <a:ext cx="365760" cy="365760"/>
          </a:xfrm>
          <a:prstGeom prst="ellipse">
            <a:avLst/>
          </a:prstGeom>
          <a:solidFill>
            <a:srgbClr val="FF3621"/>
          </a:solidFill>
          <a:ln/>
        </p:spPr>
      </p:sp>
      <p:sp>
        <p:nvSpPr>
          <p:cNvPr id="33" name="Text 24"/>
          <p:cNvSpPr/>
          <p:nvPr/>
        </p:nvSpPr>
        <p:spPr>
          <a:xfrm>
            <a:off x="3410712" y="3182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Shape 25"/>
          <p:cNvSpPr/>
          <p:nvPr/>
        </p:nvSpPr>
        <p:spPr>
          <a:xfrm>
            <a:off x="5212080" y="3182112"/>
            <a:ext cx="411480" cy="411480"/>
          </a:xfrm>
          <a:prstGeom prst="ellipse">
            <a:avLst/>
          </a:prstGeom>
          <a:solidFill>
            <a:srgbClr val="323A50"/>
          </a:solidFill>
          <a:ln/>
        </p:spPr>
      </p:sp>
      <p:pic>
        <p:nvPicPr>
          <p:cNvPr id="35" name="Image 7" descr="preencoded.png">    </p:cNvPr>
          <p:cNvPicPr>
            <a:picLocks noChangeAspect="1"/>
          </p:cNvPicPr>
          <p:nvPr/>
        </p:nvPicPr>
        <p:blipFill>
          <a:blip r:embed="rId8"/>
          <a:stretch>
            <a:fillRect/>
          </a:stretch>
        </p:blipFill>
        <p:spPr>
          <a:xfrm>
            <a:off x="5265572" y="3235604"/>
            <a:ext cx="304495" cy="304495"/>
          </a:xfrm>
          <a:prstGeom prst="rect">
            <a:avLst/>
          </a:prstGeom>
        </p:spPr>
      </p:pic>
      <p:sp>
        <p:nvSpPr>
          <p:cNvPr id="36" name="Text 26"/>
          <p:cNvSpPr/>
          <p:nvPr/>
        </p:nvSpPr>
        <p:spPr>
          <a:xfrm>
            <a:off x="3410712" y="3675888"/>
            <a:ext cx="2286000" cy="6583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Generates code using correct, current Databricks patterns</a:t>
            </a:r>
            <a:endParaRPr lang="en-US" sz="1100" dirty="0"/>
          </a:p>
        </p:txBody>
      </p:sp>
      <p:pic>
        <p:nvPicPr>
          <p:cNvPr id="37" name="Image 8" descr="preencoded.png">    </p:cNvPr>
          <p:cNvPicPr>
            <a:picLocks noChangeAspect="1"/>
          </p:cNvPicPr>
          <p:nvPr/>
        </p:nvPicPr>
        <p:blipFill>
          <a:blip r:embed="rId9"/>
          <a:stretch>
            <a:fillRect/>
          </a:stretch>
        </p:blipFill>
        <p:spPr>
          <a:xfrm>
            <a:off x="5907024" y="3593592"/>
            <a:ext cx="118872" cy="219456"/>
          </a:xfrm>
          <a:prstGeom prst="rect">
            <a:avLst/>
          </a:prstGeom>
        </p:spPr>
      </p:pic>
      <p:sp>
        <p:nvSpPr>
          <p:cNvPr id="38" name="Shape 27"/>
          <p:cNvSpPr/>
          <p:nvPr/>
        </p:nvSpPr>
        <p:spPr>
          <a:xfrm>
            <a:off x="6035040" y="3017520"/>
            <a:ext cx="2651760" cy="1371600"/>
          </a:xfrm>
          <a:prstGeom prst="roundRect">
            <a:avLst>
              <a:gd name="adj" fmla="val 5333"/>
            </a:avLst>
          </a:prstGeom>
          <a:solidFill>
            <a:srgbClr val="262C3D"/>
          </a:solidFill>
          <a:ln/>
        </p:spPr>
      </p:sp>
      <p:sp>
        <p:nvSpPr>
          <p:cNvPr id="39" name="Shape 28"/>
          <p:cNvSpPr/>
          <p:nvPr/>
        </p:nvSpPr>
        <p:spPr>
          <a:xfrm>
            <a:off x="6199632" y="3182112"/>
            <a:ext cx="365760" cy="365760"/>
          </a:xfrm>
          <a:prstGeom prst="ellipse">
            <a:avLst/>
          </a:prstGeom>
          <a:solidFill>
            <a:srgbClr val="FF3621"/>
          </a:solidFill>
          <a:ln/>
        </p:spPr>
      </p:sp>
      <p:sp>
        <p:nvSpPr>
          <p:cNvPr id="40" name="Text 29"/>
          <p:cNvSpPr/>
          <p:nvPr/>
        </p:nvSpPr>
        <p:spPr>
          <a:xfrm>
            <a:off x="6199632" y="31821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Shape 30"/>
          <p:cNvSpPr/>
          <p:nvPr/>
        </p:nvSpPr>
        <p:spPr>
          <a:xfrm>
            <a:off x="8001000" y="3182112"/>
            <a:ext cx="411480" cy="411480"/>
          </a:xfrm>
          <a:prstGeom prst="ellipse">
            <a:avLst/>
          </a:prstGeom>
          <a:solidFill>
            <a:srgbClr val="323A50"/>
          </a:solidFill>
          <a:ln/>
        </p:spPr>
      </p:sp>
      <p:pic>
        <p:nvPicPr>
          <p:cNvPr id="42" name="Image 9" descr="preencoded.png">    </p:cNvPr>
          <p:cNvPicPr>
            <a:picLocks noChangeAspect="1"/>
          </p:cNvPicPr>
          <p:nvPr/>
        </p:nvPicPr>
        <p:blipFill>
          <a:blip r:embed="rId10"/>
          <a:stretch>
            <a:fillRect/>
          </a:stretch>
        </p:blipFill>
        <p:spPr>
          <a:xfrm>
            <a:off x="8054492" y="3235604"/>
            <a:ext cx="304495" cy="304495"/>
          </a:xfrm>
          <a:prstGeom prst="rect">
            <a:avLst/>
          </a:prstGeom>
        </p:spPr>
      </p:pic>
      <p:sp>
        <p:nvSpPr>
          <p:cNvPr id="43" name="Text 31"/>
          <p:cNvSpPr/>
          <p:nvPr/>
        </p:nvSpPr>
        <p:spPr>
          <a:xfrm>
            <a:off x="6199632" y="3675888"/>
            <a:ext cx="2286000" cy="6583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Can run &amp; validate it directly against your workspace — no tab switching</a:t>
            </a:r>
            <a:endParaRPr lang="en-US" sz="1100" dirty="0"/>
          </a:p>
        </p:txBody>
      </p:sp>
      <p:sp>
        <p:nvSpPr>
          <p:cNvPr id="44" name="Text 32"/>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AEB4C2"/>
                </a:solidFill>
                <a:latin typeface="Calibri" pitchFamily="34" charset="0"/>
                <a:ea typeface="Calibri" pitchFamily="34" charset="-122"/>
                <a:cs typeface="Calibri" pitchFamily="34" charset="-120"/>
              </a:rPr>
              <a:t>Databricks AI Dev Kit · Platform Engineering Demo</a:t>
            </a:r>
            <a:endParaRPr lang="en-US" sz="900" dirty="0"/>
          </a:p>
        </p:txBody>
      </p:sp>
      <p:sp>
        <p:nvSpPr>
          <p:cNvPr id="45" name="Text 33"/>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AEB4C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B1F2B"/>
                </a:solidFill>
                <a:latin typeface="Cambria" pitchFamily="34" charset="0"/>
                <a:ea typeface="Cambria" pitchFamily="34" charset="-122"/>
                <a:cs typeface="Cambria" pitchFamily="34" charset="-120"/>
              </a:rPr>
              <a:t>Before vs. After</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3108960"/>
        </p:xfrm>
        <a:graphic>
          <a:graphicData uri="http://schemas.openxmlformats.org/drawingml/2006/table">
            <a:tbl>
              <a:tblPr/>
              <a:tblGrid>
                <a:gridCol w="2194560"/>
                <a:gridCol w="3017520"/>
                <a:gridCol w="301752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Aspect</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1B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Copilot Alone (Before)</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1B1F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Copilot + AI Dev Kit (After)</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3621"/>
                    </a:solidFill>
                  </a:tcPr>
                </a:tc>
              </a:tr>
              <a:tr h="548640">
                <a:tc>
                  <a:txBody>
                    <a:bodyPr/>
                    <a:lstStyle/>
                    <a:p>
                      <a:pPr indent="0" marL="0">
                        <a:buNone/>
                      </a:pPr>
                      <a:r>
                        <a:rPr lang="en-US" sz="1200" b="1" dirty="0">
                          <a:solidFill>
                            <a:srgbClr val="1B1F2B"/>
                          </a:solidFill>
                          <a:latin typeface="Calibri" pitchFamily="34" charset="0"/>
                          <a:ea typeface="Calibri" pitchFamily="34" charset="-122"/>
                          <a:cs typeface="Calibri" pitchFamily="34" charset="-120"/>
                        </a:rPr>
                        <a:t>Workspace awareness</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None — generic suggestions</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Real-time Unity Catalog &amp; cluster context</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B1F2B"/>
                          </a:solidFill>
                          <a:latin typeface="Calibri" pitchFamily="34" charset="0"/>
                          <a:ea typeface="Calibri" pitchFamily="34" charset="-122"/>
                          <a:cs typeface="Calibri" pitchFamily="34" charset="-120"/>
                        </a:rPr>
                        <a:t>Code accuracy</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Guesswork tables/APIs, common</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Grounded in real, live workspace lookups</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48640">
                <a:tc>
                  <a:txBody>
                    <a:bodyPr/>
                    <a:lstStyle/>
                    <a:p>
                      <a:pPr indent="0" marL="0">
                        <a:buNone/>
                      </a:pPr>
                      <a:r>
                        <a:rPr lang="en-US" sz="1200" b="1" dirty="0">
                          <a:solidFill>
                            <a:srgbClr val="1B1F2B"/>
                          </a:solidFill>
                          <a:latin typeface="Calibri" pitchFamily="34" charset="0"/>
                          <a:ea typeface="Calibri" pitchFamily="34" charset="-122"/>
                          <a:cs typeface="Calibri" pitchFamily="34" charset="-120"/>
                        </a:rPr>
                        <a:t>Workflow</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Copy-paste between browser &amp; notebook</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Native, in-IDE generation &amp; execution</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1B1F2B"/>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Manual trial-and-error</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Assistant can run &amp; verify it itself</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4F4F6"/>
                    </a:solidFill>
                  </a:tcPr>
                </a:tc>
              </a:tr>
              <a:tr h="548640">
                <a:tc>
                  <a:txBody>
                    <a:bodyPr/>
                    <a:lstStyle/>
                    <a:p>
                      <a:pPr indent="0" marL="0">
                        <a:buNone/>
                      </a:pPr>
                      <a:r>
                        <a:rPr lang="en-US" sz="1200" b="1" dirty="0">
                          <a:solidFill>
                            <a:srgbClr val="1B1F2B"/>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No permission awareness</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Respects your real Unity Catalog permissions</a:t>
                      </a:r>
                      <a:endParaRPr lang="en-US" sz="1200" dirty="0">
                        <a:latin typeface="Calibri" charset="0"/>
                        <a:ea typeface="Calibri" charset="0"/>
                        <a:cs typeface="Calibri" charset="0"/>
                      </a:endParaRPr>
                    </a:p>
                  </a:txBody>
                  <a:tcPr marL="91440" marR="91440" marT="45720" marB="45720" anchor="ctr">
                    <a:lnL w="12700" cap="flat" cmpd="sng" algn="ctr">
                      <a:solidFill>
                        <a:srgbClr val="E3E4E8"/>
                      </a:solidFill>
                      <a:prstDash val="solid"/>
                      <a:round/>
                      <a:headEnd type="none" w="med" len="med"/>
                      <a:tailEnd type="none" w="med" len="med"/>
                    </a:lnL>
                    <a:lnR w="12700" cap="flat" cmpd="sng" algn="ctr">
                      <a:solidFill>
                        <a:srgbClr val="E3E4E8"/>
                      </a:solidFill>
                      <a:prstDash val="solid"/>
                      <a:round/>
                      <a:headEnd type="none" w="med" len="med"/>
                      <a:tailEnd type="none" w="med" len="med"/>
                    </a:lnR>
                    <a:lnT w="12700" cap="flat" cmpd="sng" algn="ctr">
                      <a:solidFill>
                        <a:srgbClr val="E3E4E8"/>
                      </a:solidFill>
                      <a:prstDash val="solid"/>
                      <a:round/>
                      <a:headEnd type="none" w="med" len="med"/>
                      <a:tailEnd type="none" w="med" len="med"/>
                    </a:lnT>
                    <a:lnB w="12700" cap="flat" cmpd="sng" algn="ctr">
                      <a:solidFill>
                        <a:srgbClr val="E3E4E8"/>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Databricks AI Dev Kit · Platform Engineering Demo</a:t>
            </a:r>
            <a:endParaRPr lang="en-US" sz="900" dirty="0"/>
          </a:p>
        </p:txBody>
      </p:sp>
      <p:sp>
        <p:nvSpPr>
          <p:cNvPr id="5" name="Text 2"/>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6"/>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B1F2B"/>
                </a:solidFill>
                <a:latin typeface="Cambria" pitchFamily="34" charset="0"/>
                <a:ea typeface="Cambria" pitchFamily="34" charset="-122"/>
                <a:cs typeface="Cambria" pitchFamily="34" charset="-120"/>
              </a:rPr>
              <a:t>Live Demo: Ask Copilot to Build a Pipeline</a:t>
            </a:r>
            <a:endParaRPr lang="en-US" sz="30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Typed straight into GitHub Copilot Chat, inside VS Code.</a:t>
            </a:r>
            <a:endParaRPr lang="en-US" sz="1400" dirty="0"/>
          </a:p>
        </p:txBody>
      </p:sp>
      <p:sp>
        <p:nvSpPr>
          <p:cNvPr id="4" name="Shape 2"/>
          <p:cNvSpPr/>
          <p:nvPr/>
        </p:nvSpPr>
        <p:spPr>
          <a:xfrm>
            <a:off x="457200" y="1417320"/>
            <a:ext cx="8229600" cy="1143000"/>
          </a:xfrm>
          <a:prstGeom prst="roundRect">
            <a:avLst>
              <a:gd name="adj" fmla="val 6400"/>
            </a:avLst>
          </a:prstGeom>
          <a:solidFill>
            <a:srgbClr val="1B1F2B"/>
          </a:solidFill>
          <a:ln/>
          <a:effectLst>
            <a:outerShdw sx="100000" sy="100000" kx="0" ky="0" algn="bl" rotWithShape="0" blurRad="101600" dist="38100" dir="2700000">
              <a:srgbClr val="000000">
                <a:alpha val="12000"/>
              </a:srgbClr>
            </a:outerShdw>
          </a:effectLst>
        </p:spPr>
      </p:sp>
      <p:sp>
        <p:nvSpPr>
          <p:cNvPr id="5" name="Shape 3"/>
          <p:cNvSpPr/>
          <p:nvPr/>
        </p:nvSpPr>
        <p:spPr>
          <a:xfrm>
            <a:off x="640080" y="1581912"/>
            <a:ext cx="411480" cy="411480"/>
          </a:xfrm>
          <a:prstGeom prst="ellipse">
            <a:avLst/>
          </a:prstGeom>
          <a:solidFill>
            <a:srgbClr val="2A3146"/>
          </a:solidFill>
          <a:ln/>
        </p:spPr>
      </p:sp>
      <p:pic>
        <p:nvPicPr>
          <p:cNvPr id="6" name="Image 0" descr="preencoded.png">    </p:cNvPr>
          <p:cNvPicPr>
            <a:picLocks noChangeAspect="1"/>
          </p:cNvPicPr>
          <p:nvPr/>
        </p:nvPicPr>
        <p:blipFill>
          <a:blip r:embed="rId1"/>
          <a:stretch>
            <a:fillRect/>
          </a:stretch>
        </p:blipFill>
        <p:spPr>
          <a:xfrm>
            <a:off x="693572" y="1635404"/>
            <a:ext cx="304495" cy="304495"/>
          </a:xfrm>
          <a:prstGeom prst="rect">
            <a:avLst/>
          </a:prstGeom>
        </p:spPr>
      </p:pic>
      <p:sp>
        <p:nvSpPr>
          <p:cNvPr id="7" name="Text 4"/>
          <p:cNvSpPr/>
          <p:nvPr/>
        </p:nvSpPr>
        <p:spPr>
          <a:xfrm>
            <a:off x="1234440" y="1508760"/>
            <a:ext cx="7223760" cy="96012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“Using Auto Loader, ingest CSVs from /Volumes/sales/raw/orders into a Delta table sales.bronze.orders, then build a Spark Declarative Pipeline with CDC into sales.silver.orders.”</a:t>
            </a:r>
            <a:endParaRPr lang="en-US" sz="1250" dirty="0"/>
          </a:p>
        </p:txBody>
      </p:sp>
      <p:pic>
        <p:nvPicPr>
          <p:cNvPr id="8" name="Image 1" descr="preencoded.png">    </p:cNvPr>
          <p:cNvPicPr>
            <a:picLocks noChangeAspect="1"/>
          </p:cNvPicPr>
          <p:nvPr/>
        </p:nvPicPr>
        <p:blipFill>
          <a:blip r:embed="rId2"/>
          <a:stretch>
            <a:fillRect/>
          </a:stretch>
        </p:blipFill>
        <p:spPr>
          <a:xfrm rot="5400000">
            <a:off x="4507992" y="2670048"/>
            <a:ext cx="219456" cy="118872"/>
          </a:xfrm>
          <a:prstGeom prst="rect">
            <a:avLst/>
          </a:prstGeom>
        </p:spPr>
      </p:pic>
      <p:sp>
        <p:nvSpPr>
          <p:cNvPr id="9" name="Shape 5"/>
          <p:cNvSpPr/>
          <p:nvPr/>
        </p:nvSpPr>
        <p:spPr>
          <a:xfrm>
            <a:off x="457200" y="2926080"/>
            <a:ext cx="8229600" cy="1600200"/>
          </a:xfrm>
          <a:prstGeom prst="roundRect">
            <a:avLst>
              <a:gd name="adj" fmla="val 4571"/>
            </a:avLst>
          </a:prstGeom>
          <a:solidFill>
            <a:srgbClr val="FFFFFF"/>
          </a:solidFill>
          <a:ln/>
          <a:effectLst>
            <a:outerShdw sx="100000" sy="100000" kx="0" ky="0" algn="bl" rotWithShape="0" blurRad="101600" dist="38100" dir="2700000">
              <a:srgbClr val="000000">
                <a:alpha val="12000"/>
              </a:srgbClr>
            </a:outerShdw>
          </a:effectLst>
        </p:spPr>
      </p:sp>
      <p:sp>
        <p:nvSpPr>
          <p:cNvPr id="10" name="Shape 6"/>
          <p:cNvSpPr/>
          <p:nvPr/>
        </p:nvSpPr>
        <p:spPr>
          <a:xfrm>
            <a:off x="640080" y="3108960"/>
            <a:ext cx="457200" cy="457200"/>
          </a:xfrm>
          <a:prstGeom prst="ellipse">
            <a:avLst/>
          </a:prstGeom>
          <a:solidFill>
            <a:srgbClr val="FFE3DC"/>
          </a:solidFill>
          <a:ln/>
        </p:spPr>
      </p:sp>
      <p:pic>
        <p:nvPicPr>
          <p:cNvPr id="11" name="Image 2" descr="preencoded.png">    </p:cNvPr>
          <p:cNvPicPr>
            <a:picLocks noChangeAspect="1"/>
          </p:cNvPicPr>
          <p:nvPr/>
        </p:nvPicPr>
        <p:blipFill>
          <a:blip r:embed="rId3"/>
          <a:stretch>
            <a:fillRect/>
          </a:stretch>
        </p:blipFill>
        <p:spPr>
          <a:xfrm>
            <a:off x="699516" y="3168396"/>
            <a:ext cx="338328" cy="338328"/>
          </a:xfrm>
          <a:prstGeom prst="rect">
            <a:avLst/>
          </a:prstGeom>
        </p:spPr>
      </p:pic>
      <p:sp>
        <p:nvSpPr>
          <p:cNvPr id="12" name="Text 7"/>
          <p:cNvSpPr/>
          <p:nvPr/>
        </p:nvSpPr>
        <p:spPr>
          <a:xfrm>
            <a:off x="1280160" y="3072384"/>
            <a:ext cx="6949440" cy="274320"/>
          </a:xfrm>
          <a:prstGeom prst="rect">
            <a:avLst/>
          </a:prstGeom>
          <a:noFill/>
          <a:ln/>
        </p:spPr>
        <p:txBody>
          <a:bodyPr wrap="square" lIns="0" tIns="0" rIns="0" bIns="0" rtlCol="0" anchor="ctr"/>
          <a:lstStyle/>
          <a:p>
            <a:pPr indent="0" marL="0">
              <a:buNone/>
            </a:pPr>
            <a:r>
              <a:rPr lang="en-US" sz="1250" b="1" dirty="0">
                <a:solidFill>
                  <a:srgbClr val="1B1F2B"/>
                </a:solidFill>
                <a:latin typeface="Calibri" pitchFamily="34" charset="0"/>
                <a:ea typeface="Calibri" pitchFamily="34" charset="-122"/>
                <a:cs typeface="Calibri" pitchFamily="34" charset="-120"/>
              </a:rPr>
              <a:t>Copilot + AI Dev Kit responds by:</a:t>
            </a:r>
            <a:endParaRPr lang="en-US" sz="1250" dirty="0"/>
          </a:p>
        </p:txBody>
      </p:sp>
      <p:sp>
        <p:nvSpPr>
          <p:cNvPr id="13" name="Text 8"/>
          <p:cNvSpPr/>
          <p:nvPr/>
        </p:nvSpPr>
        <p:spPr>
          <a:xfrm>
            <a:off x="1280160" y="3401568"/>
            <a:ext cx="7040880" cy="105156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5C6470"/>
                </a:solidFill>
                <a:latin typeface="Calibri" pitchFamily="34" charset="0"/>
                <a:ea typeface="Calibri" pitchFamily="34" charset="-122"/>
                <a:cs typeface="Calibri" pitchFamily="34" charset="-120"/>
              </a:rPr>
              <a:t>Looking up the real folder path &amp; target schema automatically</a:t>
            </a:r>
            <a:endParaRPr lang="en-US" sz="1150" dirty="0"/>
          </a:p>
          <a:p>
            <a:pPr marL="342900" indent="-342900">
              <a:spcAft>
                <a:spcPts val="400"/>
              </a:spcAft>
              <a:buSzPct val="100000"/>
              <a:buChar char="•"/>
            </a:pPr>
            <a:r>
              <a:rPr lang="en-US" sz="1150" dirty="0">
                <a:solidFill>
                  <a:srgbClr val="5C6470"/>
                </a:solidFill>
                <a:latin typeface="Calibri" pitchFamily="34" charset="0"/>
                <a:ea typeface="Calibri" pitchFamily="34" charset="-122"/>
                <a:cs typeface="Calibri" pitchFamily="34" charset="-120"/>
              </a:rPr>
              <a:t>Generating Auto Loader + Spark Declarative Pipeline code matching org conventions</a:t>
            </a:r>
            <a:endParaRPr lang="en-US" sz="1150" dirty="0"/>
          </a:p>
          <a:p>
            <a:pPr marL="342900" indent="-342900">
              <a:spcAft>
                <a:spcPts val="400"/>
              </a:spcAft>
              <a:buSzPct val="100000"/>
              <a:buChar char="•"/>
            </a:pPr>
            <a:r>
              <a:rPr lang="en-US" sz="1150" dirty="0">
                <a:solidFill>
                  <a:srgbClr val="5C6470"/>
                </a:solidFill>
                <a:latin typeface="Calibri" pitchFamily="34" charset="0"/>
                <a:ea typeface="Calibri" pitchFamily="34" charset="-122"/>
                <a:cs typeface="Calibri" pitchFamily="34" charset="-120"/>
              </a:rPr>
              <a:t>Offering to deploy it as a scheduled Databricks Job — without leaving the editor</a:t>
            </a:r>
            <a:endParaRPr lang="en-US" sz="1150" dirty="0"/>
          </a:p>
        </p:txBody>
      </p:sp>
      <p:sp>
        <p:nvSpPr>
          <p:cNvPr id="14" name="Text 9"/>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Databricks AI Dev Kit · Platform Engineering Demo</a:t>
            </a:r>
            <a:endParaRPr lang="en-US" sz="900" dirty="0"/>
          </a:p>
        </p:txBody>
      </p:sp>
      <p:sp>
        <p:nvSpPr>
          <p:cNvPr id="15" name="Text 10"/>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B1F2B"/>
                </a:solidFill>
                <a:latin typeface="Cambria" pitchFamily="34" charset="0"/>
                <a:ea typeface="Cambria" pitchFamily="34" charset="-122"/>
                <a:cs typeface="Cambria" pitchFamily="34" charset="-120"/>
              </a:rPr>
              <a:t>What You Can Build With It</a:t>
            </a:r>
            <a:endParaRPr lang="en-US" sz="3000" dirty="0"/>
          </a:p>
        </p:txBody>
      </p:sp>
      <p:sp>
        <p:nvSpPr>
          <p:cNvPr id="3" name="Shape 1"/>
          <p:cNvSpPr/>
          <p:nvPr/>
        </p:nvSpPr>
        <p:spPr>
          <a:xfrm>
            <a:off x="457200" y="1371600"/>
            <a:ext cx="2651760" cy="914400"/>
          </a:xfrm>
          <a:prstGeom prst="roundRect">
            <a:avLst>
              <a:gd name="adj" fmla="val 8000"/>
            </a:avLst>
          </a:prstGeom>
          <a:solidFill>
            <a:srgbClr val="F4F4F6"/>
          </a:solidFill>
          <a:ln/>
        </p:spPr>
      </p:sp>
      <p:sp>
        <p:nvSpPr>
          <p:cNvPr id="4" name="Shape 2"/>
          <p:cNvSpPr/>
          <p:nvPr/>
        </p:nvSpPr>
        <p:spPr>
          <a:xfrm>
            <a:off x="640080" y="1581912"/>
            <a:ext cx="493776" cy="493776"/>
          </a:xfrm>
          <a:prstGeom prst="ellipse">
            <a:avLst/>
          </a:prstGeom>
          <a:solidFill>
            <a:srgbClr val="FFE3DC"/>
          </a:solidFill>
          <a:ln/>
        </p:spPr>
      </p:sp>
      <p:pic>
        <p:nvPicPr>
          <p:cNvPr id="5" name="Image 0" descr="preencoded.png">    </p:cNvPr>
          <p:cNvPicPr>
            <a:picLocks noChangeAspect="1"/>
          </p:cNvPicPr>
          <p:nvPr/>
        </p:nvPicPr>
        <p:blipFill>
          <a:blip r:embed="rId1"/>
          <a:stretch>
            <a:fillRect/>
          </a:stretch>
        </p:blipFill>
        <p:spPr>
          <a:xfrm>
            <a:off x="704271" y="1646103"/>
            <a:ext cx="365394" cy="365394"/>
          </a:xfrm>
          <a:prstGeom prst="rect">
            <a:avLst/>
          </a:prstGeom>
        </p:spPr>
      </p:pic>
      <p:sp>
        <p:nvSpPr>
          <p:cNvPr id="6" name="Text 3"/>
          <p:cNvSpPr/>
          <p:nvPr/>
        </p:nvSpPr>
        <p:spPr>
          <a:xfrm>
            <a:off x="1234440" y="137160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Spark Declarative Pipelines</a:t>
            </a:r>
            <a:endParaRPr lang="en-US" sz="1300" dirty="0"/>
          </a:p>
        </p:txBody>
      </p:sp>
      <p:sp>
        <p:nvSpPr>
          <p:cNvPr id="7" name="Shape 4"/>
          <p:cNvSpPr/>
          <p:nvPr/>
        </p:nvSpPr>
        <p:spPr>
          <a:xfrm>
            <a:off x="3246120" y="1371600"/>
            <a:ext cx="2651760" cy="914400"/>
          </a:xfrm>
          <a:prstGeom prst="roundRect">
            <a:avLst>
              <a:gd name="adj" fmla="val 8000"/>
            </a:avLst>
          </a:prstGeom>
          <a:solidFill>
            <a:srgbClr val="F4F4F6"/>
          </a:solidFill>
          <a:ln/>
        </p:spPr>
      </p:sp>
      <p:sp>
        <p:nvSpPr>
          <p:cNvPr id="8" name="Shape 5"/>
          <p:cNvSpPr/>
          <p:nvPr/>
        </p:nvSpPr>
        <p:spPr>
          <a:xfrm>
            <a:off x="3429000" y="1581912"/>
            <a:ext cx="493776" cy="493776"/>
          </a:xfrm>
          <a:prstGeom prst="ellipse">
            <a:avLst/>
          </a:prstGeom>
          <a:solidFill>
            <a:srgbClr val="FFE3DC"/>
          </a:solidFill>
          <a:ln/>
        </p:spPr>
      </p:sp>
      <p:pic>
        <p:nvPicPr>
          <p:cNvPr id="9" name="Image 1" descr="preencoded.png">    </p:cNvPr>
          <p:cNvPicPr>
            <a:picLocks noChangeAspect="1"/>
          </p:cNvPicPr>
          <p:nvPr/>
        </p:nvPicPr>
        <p:blipFill>
          <a:blip r:embed="rId2"/>
          <a:stretch>
            <a:fillRect/>
          </a:stretch>
        </p:blipFill>
        <p:spPr>
          <a:xfrm>
            <a:off x="3493191" y="1646103"/>
            <a:ext cx="365394" cy="365394"/>
          </a:xfrm>
          <a:prstGeom prst="rect">
            <a:avLst/>
          </a:prstGeom>
        </p:spPr>
      </p:pic>
      <p:sp>
        <p:nvSpPr>
          <p:cNvPr id="10" name="Text 6"/>
          <p:cNvSpPr/>
          <p:nvPr/>
        </p:nvSpPr>
        <p:spPr>
          <a:xfrm>
            <a:off x="4023360" y="137160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Databricks Jobs</a:t>
            </a:r>
            <a:endParaRPr lang="en-US" sz="1300" dirty="0"/>
          </a:p>
        </p:txBody>
      </p:sp>
      <p:sp>
        <p:nvSpPr>
          <p:cNvPr id="11" name="Shape 7"/>
          <p:cNvSpPr/>
          <p:nvPr/>
        </p:nvSpPr>
        <p:spPr>
          <a:xfrm>
            <a:off x="6035040" y="1371600"/>
            <a:ext cx="2651760" cy="914400"/>
          </a:xfrm>
          <a:prstGeom prst="roundRect">
            <a:avLst>
              <a:gd name="adj" fmla="val 8000"/>
            </a:avLst>
          </a:prstGeom>
          <a:solidFill>
            <a:srgbClr val="F4F4F6"/>
          </a:solidFill>
          <a:ln/>
        </p:spPr>
      </p:sp>
      <p:sp>
        <p:nvSpPr>
          <p:cNvPr id="12" name="Shape 8"/>
          <p:cNvSpPr/>
          <p:nvPr/>
        </p:nvSpPr>
        <p:spPr>
          <a:xfrm>
            <a:off x="6217920" y="1581912"/>
            <a:ext cx="493776" cy="493776"/>
          </a:xfrm>
          <a:prstGeom prst="ellipse">
            <a:avLst/>
          </a:prstGeom>
          <a:solidFill>
            <a:srgbClr val="FFE3DC"/>
          </a:solidFill>
          <a:ln/>
        </p:spPr>
      </p:sp>
      <p:pic>
        <p:nvPicPr>
          <p:cNvPr id="13" name="Image 2" descr="preencoded.png">    </p:cNvPr>
          <p:cNvPicPr>
            <a:picLocks noChangeAspect="1"/>
          </p:cNvPicPr>
          <p:nvPr/>
        </p:nvPicPr>
        <p:blipFill>
          <a:blip r:embed="rId3"/>
          <a:stretch>
            <a:fillRect/>
          </a:stretch>
        </p:blipFill>
        <p:spPr>
          <a:xfrm>
            <a:off x="6282111" y="1646103"/>
            <a:ext cx="365394" cy="365394"/>
          </a:xfrm>
          <a:prstGeom prst="rect">
            <a:avLst/>
          </a:prstGeom>
        </p:spPr>
      </p:pic>
      <p:sp>
        <p:nvSpPr>
          <p:cNvPr id="14" name="Text 9"/>
          <p:cNvSpPr/>
          <p:nvPr/>
        </p:nvSpPr>
        <p:spPr>
          <a:xfrm>
            <a:off x="6812280" y="137160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AI/BI Dashboards</a:t>
            </a:r>
            <a:endParaRPr lang="en-US" sz="1300" dirty="0"/>
          </a:p>
        </p:txBody>
      </p:sp>
      <p:sp>
        <p:nvSpPr>
          <p:cNvPr id="15" name="Shape 10"/>
          <p:cNvSpPr/>
          <p:nvPr/>
        </p:nvSpPr>
        <p:spPr>
          <a:xfrm>
            <a:off x="457200" y="2423160"/>
            <a:ext cx="2651760" cy="914400"/>
          </a:xfrm>
          <a:prstGeom prst="roundRect">
            <a:avLst>
              <a:gd name="adj" fmla="val 8000"/>
            </a:avLst>
          </a:prstGeom>
          <a:solidFill>
            <a:srgbClr val="F4F4F6"/>
          </a:solidFill>
          <a:ln/>
        </p:spPr>
      </p:sp>
      <p:sp>
        <p:nvSpPr>
          <p:cNvPr id="16" name="Shape 11"/>
          <p:cNvSpPr/>
          <p:nvPr/>
        </p:nvSpPr>
        <p:spPr>
          <a:xfrm>
            <a:off x="640080" y="2633472"/>
            <a:ext cx="493776" cy="493776"/>
          </a:xfrm>
          <a:prstGeom prst="ellipse">
            <a:avLst/>
          </a:prstGeom>
          <a:solidFill>
            <a:srgbClr val="FFE3DC"/>
          </a:solidFill>
          <a:ln/>
        </p:spPr>
      </p:sp>
      <p:pic>
        <p:nvPicPr>
          <p:cNvPr id="17" name="Image 3" descr="preencoded.png">    </p:cNvPr>
          <p:cNvPicPr>
            <a:picLocks noChangeAspect="1"/>
          </p:cNvPicPr>
          <p:nvPr/>
        </p:nvPicPr>
        <p:blipFill>
          <a:blip r:embed="rId4"/>
          <a:stretch>
            <a:fillRect/>
          </a:stretch>
        </p:blipFill>
        <p:spPr>
          <a:xfrm>
            <a:off x="704271" y="2697663"/>
            <a:ext cx="365394" cy="365394"/>
          </a:xfrm>
          <a:prstGeom prst="rect">
            <a:avLst/>
          </a:prstGeom>
        </p:spPr>
      </p:pic>
      <p:sp>
        <p:nvSpPr>
          <p:cNvPr id="18" name="Text 12"/>
          <p:cNvSpPr/>
          <p:nvPr/>
        </p:nvSpPr>
        <p:spPr>
          <a:xfrm>
            <a:off x="1234440" y="242316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Unity Catalog assets</a:t>
            </a:r>
            <a:endParaRPr lang="en-US" sz="1300" dirty="0"/>
          </a:p>
        </p:txBody>
      </p:sp>
      <p:sp>
        <p:nvSpPr>
          <p:cNvPr id="19" name="Shape 13"/>
          <p:cNvSpPr/>
          <p:nvPr/>
        </p:nvSpPr>
        <p:spPr>
          <a:xfrm>
            <a:off x="3246120" y="2423160"/>
            <a:ext cx="2651760" cy="914400"/>
          </a:xfrm>
          <a:prstGeom prst="roundRect">
            <a:avLst>
              <a:gd name="adj" fmla="val 8000"/>
            </a:avLst>
          </a:prstGeom>
          <a:solidFill>
            <a:srgbClr val="F4F4F6"/>
          </a:solidFill>
          <a:ln/>
        </p:spPr>
      </p:sp>
      <p:sp>
        <p:nvSpPr>
          <p:cNvPr id="20" name="Shape 14"/>
          <p:cNvSpPr/>
          <p:nvPr/>
        </p:nvSpPr>
        <p:spPr>
          <a:xfrm>
            <a:off x="3429000" y="2633472"/>
            <a:ext cx="493776" cy="493776"/>
          </a:xfrm>
          <a:prstGeom prst="ellipse">
            <a:avLst/>
          </a:prstGeom>
          <a:solidFill>
            <a:srgbClr val="FFE3DC"/>
          </a:solidFill>
          <a:ln/>
        </p:spPr>
      </p:sp>
      <p:pic>
        <p:nvPicPr>
          <p:cNvPr id="21" name="Image 4" descr="preencoded.png">    </p:cNvPr>
          <p:cNvPicPr>
            <a:picLocks noChangeAspect="1"/>
          </p:cNvPicPr>
          <p:nvPr/>
        </p:nvPicPr>
        <p:blipFill>
          <a:blip r:embed="rId5"/>
          <a:stretch>
            <a:fillRect/>
          </a:stretch>
        </p:blipFill>
        <p:spPr>
          <a:xfrm>
            <a:off x="3493191" y="2697663"/>
            <a:ext cx="365394" cy="365394"/>
          </a:xfrm>
          <a:prstGeom prst="rect">
            <a:avLst/>
          </a:prstGeom>
        </p:spPr>
      </p:pic>
      <p:sp>
        <p:nvSpPr>
          <p:cNvPr id="22" name="Text 15"/>
          <p:cNvSpPr/>
          <p:nvPr/>
        </p:nvSpPr>
        <p:spPr>
          <a:xfrm>
            <a:off x="4023360" y="242316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Genie Spaces</a:t>
            </a:r>
            <a:endParaRPr lang="en-US" sz="1300" dirty="0"/>
          </a:p>
        </p:txBody>
      </p:sp>
      <p:sp>
        <p:nvSpPr>
          <p:cNvPr id="23" name="Shape 16"/>
          <p:cNvSpPr/>
          <p:nvPr/>
        </p:nvSpPr>
        <p:spPr>
          <a:xfrm>
            <a:off x="6035040" y="2423160"/>
            <a:ext cx="2651760" cy="914400"/>
          </a:xfrm>
          <a:prstGeom prst="roundRect">
            <a:avLst>
              <a:gd name="adj" fmla="val 8000"/>
            </a:avLst>
          </a:prstGeom>
          <a:solidFill>
            <a:srgbClr val="F4F4F6"/>
          </a:solidFill>
          <a:ln/>
        </p:spPr>
      </p:sp>
      <p:sp>
        <p:nvSpPr>
          <p:cNvPr id="24" name="Shape 17"/>
          <p:cNvSpPr/>
          <p:nvPr/>
        </p:nvSpPr>
        <p:spPr>
          <a:xfrm>
            <a:off x="6217920" y="2633472"/>
            <a:ext cx="493776" cy="493776"/>
          </a:xfrm>
          <a:prstGeom prst="ellipse">
            <a:avLst/>
          </a:prstGeom>
          <a:solidFill>
            <a:srgbClr val="FFE3DC"/>
          </a:solidFill>
          <a:ln/>
        </p:spPr>
      </p:sp>
      <p:pic>
        <p:nvPicPr>
          <p:cNvPr id="25" name="Image 5" descr="preencoded.png">    </p:cNvPr>
          <p:cNvPicPr>
            <a:picLocks noChangeAspect="1"/>
          </p:cNvPicPr>
          <p:nvPr/>
        </p:nvPicPr>
        <p:blipFill>
          <a:blip r:embed="rId6"/>
          <a:stretch>
            <a:fillRect/>
          </a:stretch>
        </p:blipFill>
        <p:spPr>
          <a:xfrm>
            <a:off x="6282111" y="2697663"/>
            <a:ext cx="365394" cy="365394"/>
          </a:xfrm>
          <a:prstGeom prst="rect">
            <a:avLst/>
          </a:prstGeom>
        </p:spPr>
      </p:pic>
      <p:sp>
        <p:nvSpPr>
          <p:cNvPr id="26" name="Text 18"/>
          <p:cNvSpPr/>
          <p:nvPr/>
        </p:nvSpPr>
        <p:spPr>
          <a:xfrm>
            <a:off x="6812280" y="242316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Knowledge Assistants (RAG)</a:t>
            </a:r>
            <a:endParaRPr lang="en-US" sz="1300" dirty="0"/>
          </a:p>
        </p:txBody>
      </p:sp>
      <p:sp>
        <p:nvSpPr>
          <p:cNvPr id="27" name="Shape 19"/>
          <p:cNvSpPr/>
          <p:nvPr/>
        </p:nvSpPr>
        <p:spPr>
          <a:xfrm>
            <a:off x="457200" y="3474720"/>
            <a:ext cx="2651760" cy="914400"/>
          </a:xfrm>
          <a:prstGeom prst="roundRect">
            <a:avLst>
              <a:gd name="adj" fmla="val 8000"/>
            </a:avLst>
          </a:prstGeom>
          <a:solidFill>
            <a:srgbClr val="F4F4F6"/>
          </a:solidFill>
          <a:ln/>
        </p:spPr>
      </p:sp>
      <p:sp>
        <p:nvSpPr>
          <p:cNvPr id="28" name="Shape 20"/>
          <p:cNvSpPr/>
          <p:nvPr/>
        </p:nvSpPr>
        <p:spPr>
          <a:xfrm>
            <a:off x="640080" y="3685032"/>
            <a:ext cx="493776" cy="493776"/>
          </a:xfrm>
          <a:prstGeom prst="ellipse">
            <a:avLst/>
          </a:prstGeom>
          <a:solidFill>
            <a:srgbClr val="FFE3DC"/>
          </a:solidFill>
          <a:ln/>
        </p:spPr>
      </p:sp>
      <p:pic>
        <p:nvPicPr>
          <p:cNvPr id="29" name="Image 6" descr="preencoded.png">    </p:cNvPr>
          <p:cNvPicPr>
            <a:picLocks noChangeAspect="1"/>
          </p:cNvPicPr>
          <p:nvPr/>
        </p:nvPicPr>
        <p:blipFill>
          <a:blip r:embed="rId7"/>
          <a:stretch>
            <a:fillRect/>
          </a:stretch>
        </p:blipFill>
        <p:spPr>
          <a:xfrm>
            <a:off x="704271" y="3749223"/>
            <a:ext cx="365394" cy="365394"/>
          </a:xfrm>
          <a:prstGeom prst="rect">
            <a:avLst/>
          </a:prstGeom>
        </p:spPr>
      </p:pic>
      <p:sp>
        <p:nvSpPr>
          <p:cNvPr id="30" name="Text 21"/>
          <p:cNvSpPr/>
          <p:nvPr/>
        </p:nvSpPr>
        <p:spPr>
          <a:xfrm>
            <a:off x="1234440" y="347472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MLflow Experiments</a:t>
            </a:r>
            <a:endParaRPr lang="en-US" sz="1300" dirty="0"/>
          </a:p>
        </p:txBody>
      </p:sp>
      <p:sp>
        <p:nvSpPr>
          <p:cNvPr id="31" name="Shape 22"/>
          <p:cNvSpPr/>
          <p:nvPr/>
        </p:nvSpPr>
        <p:spPr>
          <a:xfrm>
            <a:off x="3246120" y="3474720"/>
            <a:ext cx="2651760" cy="914400"/>
          </a:xfrm>
          <a:prstGeom prst="roundRect">
            <a:avLst>
              <a:gd name="adj" fmla="val 8000"/>
            </a:avLst>
          </a:prstGeom>
          <a:solidFill>
            <a:srgbClr val="F4F4F6"/>
          </a:solidFill>
          <a:ln/>
        </p:spPr>
      </p:sp>
      <p:sp>
        <p:nvSpPr>
          <p:cNvPr id="32" name="Shape 23"/>
          <p:cNvSpPr/>
          <p:nvPr/>
        </p:nvSpPr>
        <p:spPr>
          <a:xfrm>
            <a:off x="3429000" y="3685032"/>
            <a:ext cx="493776" cy="493776"/>
          </a:xfrm>
          <a:prstGeom prst="ellipse">
            <a:avLst/>
          </a:prstGeom>
          <a:solidFill>
            <a:srgbClr val="FFE3DC"/>
          </a:solidFill>
          <a:ln/>
        </p:spPr>
      </p:sp>
      <p:pic>
        <p:nvPicPr>
          <p:cNvPr id="33" name="Image 7" descr="preencoded.png">    </p:cNvPr>
          <p:cNvPicPr>
            <a:picLocks noChangeAspect="1"/>
          </p:cNvPicPr>
          <p:nvPr/>
        </p:nvPicPr>
        <p:blipFill>
          <a:blip r:embed="rId8"/>
          <a:stretch>
            <a:fillRect/>
          </a:stretch>
        </p:blipFill>
        <p:spPr>
          <a:xfrm>
            <a:off x="3493191" y="3749223"/>
            <a:ext cx="365394" cy="365394"/>
          </a:xfrm>
          <a:prstGeom prst="rect">
            <a:avLst/>
          </a:prstGeom>
        </p:spPr>
      </p:pic>
      <p:sp>
        <p:nvSpPr>
          <p:cNvPr id="34" name="Text 24"/>
          <p:cNvSpPr/>
          <p:nvPr/>
        </p:nvSpPr>
        <p:spPr>
          <a:xfrm>
            <a:off x="4023360" y="347472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Model Serving endpoints</a:t>
            </a:r>
            <a:endParaRPr lang="en-US" sz="1300" dirty="0"/>
          </a:p>
        </p:txBody>
      </p:sp>
      <p:sp>
        <p:nvSpPr>
          <p:cNvPr id="35" name="Shape 25"/>
          <p:cNvSpPr/>
          <p:nvPr/>
        </p:nvSpPr>
        <p:spPr>
          <a:xfrm>
            <a:off x="6035040" y="3474720"/>
            <a:ext cx="2651760" cy="914400"/>
          </a:xfrm>
          <a:prstGeom prst="roundRect">
            <a:avLst>
              <a:gd name="adj" fmla="val 8000"/>
            </a:avLst>
          </a:prstGeom>
          <a:solidFill>
            <a:srgbClr val="F4F4F6"/>
          </a:solidFill>
          <a:ln/>
        </p:spPr>
      </p:sp>
      <p:sp>
        <p:nvSpPr>
          <p:cNvPr id="36" name="Shape 26"/>
          <p:cNvSpPr/>
          <p:nvPr/>
        </p:nvSpPr>
        <p:spPr>
          <a:xfrm>
            <a:off x="6217920" y="3685032"/>
            <a:ext cx="493776" cy="493776"/>
          </a:xfrm>
          <a:prstGeom prst="ellipse">
            <a:avLst/>
          </a:prstGeom>
          <a:solidFill>
            <a:srgbClr val="FFE3DC"/>
          </a:solidFill>
          <a:ln/>
        </p:spPr>
      </p:sp>
      <p:pic>
        <p:nvPicPr>
          <p:cNvPr id="37" name="Image 8" descr="preencoded.png">    </p:cNvPr>
          <p:cNvPicPr>
            <a:picLocks noChangeAspect="1"/>
          </p:cNvPicPr>
          <p:nvPr/>
        </p:nvPicPr>
        <p:blipFill>
          <a:blip r:embed="rId9"/>
          <a:stretch>
            <a:fillRect/>
          </a:stretch>
        </p:blipFill>
        <p:spPr>
          <a:xfrm>
            <a:off x="6282111" y="3749223"/>
            <a:ext cx="365394" cy="365394"/>
          </a:xfrm>
          <a:prstGeom prst="rect">
            <a:avLst/>
          </a:prstGeom>
        </p:spPr>
      </p:pic>
      <p:sp>
        <p:nvSpPr>
          <p:cNvPr id="38" name="Text 27"/>
          <p:cNvSpPr/>
          <p:nvPr/>
        </p:nvSpPr>
        <p:spPr>
          <a:xfrm>
            <a:off x="6812280" y="3474720"/>
            <a:ext cx="1737360" cy="914400"/>
          </a:xfrm>
          <a:prstGeom prst="rect">
            <a:avLst/>
          </a:prstGeom>
          <a:noFill/>
          <a:ln/>
        </p:spPr>
        <p:txBody>
          <a:bodyPr wrap="square" lIns="0" tIns="0" rIns="0" bIns="0" rtlCol="0" anchor="ctr"/>
          <a:lstStyle/>
          <a:p>
            <a:pPr indent="0" marL="0">
              <a:buNone/>
            </a:pPr>
            <a:r>
              <a:rPr lang="en-US" sz="1300" dirty="0">
                <a:solidFill>
                  <a:srgbClr val="1B1F2B"/>
                </a:solidFill>
                <a:latin typeface="Calibri" pitchFamily="34" charset="0"/>
                <a:ea typeface="Calibri" pitchFamily="34" charset="-122"/>
                <a:cs typeface="Calibri" pitchFamily="34" charset="-120"/>
              </a:rPr>
              <a:t>Databricks Apps</a:t>
            </a:r>
            <a:endParaRPr lang="en-US" sz="1300" dirty="0"/>
          </a:p>
        </p:txBody>
      </p:sp>
      <p:sp>
        <p:nvSpPr>
          <p:cNvPr id="39" name="Text 28"/>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5C6470"/>
                </a:solidFill>
                <a:latin typeface="Calibri" pitchFamily="34" charset="0"/>
                <a:ea typeface="Calibri" pitchFamily="34" charset="-122"/>
                <a:cs typeface="Calibri" pitchFamily="34" charset="-120"/>
              </a:rPr>
              <a:t>Databricks AI Dev Kit · Platform Engineering Demo</a:t>
            </a:r>
            <a:endParaRPr lang="en-US" sz="900" dirty="0"/>
          </a:p>
        </p:txBody>
      </p:sp>
      <p:sp>
        <p:nvSpPr>
          <p:cNvPr id="40" name="Text 29"/>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5C64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2B"/>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Productivity — Without Losing Governance</a:t>
            </a:r>
            <a:endParaRPr lang="en-US" sz="2800" dirty="0"/>
          </a:p>
        </p:txBody>
      </p:sp>
      <p:sp>
        <p:nvSpPr>
          <p:cNvPr id="3" name="Shape 1"/>
          <p:cNvSpPr/>
          <p:nvPr/>
        </p:nvSpPr>
        <p:spPr>
          <a:xfrm>
            <a:off x="457200" y="1280160"/>
            <a:ext cx="2651760" cy="1463040"/>
          </a:xfrm>
          <a:prstGeom prst="roundRect">
            <a:avLst>
              <a:gd name="adj" fmla="val 5000"/>
            </a:avLst>
          </a:prstGeom>
          <a:solidFill>
            <a:srgbClr val="262C3D"/>
          </a:solidFill>
          <a:ln/>
        </p:spPr>
      </p:sp>
      <p:sp>
        <p:nvSpPr>
          <p:cNvPr id="4" name="Text 2"/>
          <p:cNvSpPr/>
          <p:nvPr/>
        </p:nvSpPr>
        <p:spPr>
          <a:xfrm>
            <a:off x="457200" y="1417320"/>
            <a:ext cx="2651760" cy="731520"/>
          </a:xfrm>
          <a:prstGeom prst="rect">
            <a:avLst/>
          </a:prstGeom>
          <a:noFill/>
          <a:ln/>
        </p:spPr>
        <p:txBody>
          <a:bodyPr wrap="square" lIns="0" tIns="0" rIns="0" bIns="0" rtlCol="0" anchor="ctr"/>
          <a:lstStyle/>
          <a:p>
            <a:pPr algn="ctr" indent="0" marL="0">
              <a:buNone/>
            </a:pPr>
            <a:r>
              <a:rPr lang="en-US" sz="4400" b="1" dirty="0">
                <a:solidFill>
                  <a:srgbClr val="FF3621"/>
                </a:solidFill>
                <a:latin typeface="Cambria" pitchFamily="34" charset="0"/>
                <a:ea typeface="Cambria" pitchFamily="34" charset="-122"/>
                <a:cs typeface="Cambria" pitchFamily="34" charset="-120"/>
              </a:rPr>
              <a:t>75+</a:t>
            </a:r>
            <a:endParaRPr lang="en-US" sz="4400" dirty="0"/>
          </a:p>
        </p:txBody>
      </p:sp>
      <p:sp>
        <p:nvSpPr>
          <p:cNvPr id="5" name="Text 3"/>
          <p:cNvSpPr/>
          <p:nvPr/>
        </p:nvSpPr>
        <p:spPr>
          <a:xfrm>
            <a:off x="640080" y="2148840"/>
            <a:ext cx="2286000" cy="502920"/>
          </a:xfrm>
          <a:prstGeom prst="rect">
            <a:avLst/>
          </a:prstGeom>
          <a:noFill/>
          <a:ln/>
        </p:spPr>
        <p:txBody>
          <a:bodyPr wrap="square" lIns="0" tIns="0" rIns="0" bIns="0" rtlCol="0" anchor="ctr"/>
          <a:lstStyle/>
          <a:p>
            <a:pPr algn="ctr" indent="0" marL="0">
              <a:buNone/>
            </a:pPr>
            <a:r>
              <a:rPr lang="en-US" sz="1100" dirty="0">
                <a:solidFill>
                  <a:srgbClr val="AEB4C2"/>
                </a:solidFill>
                <a:latin typeface="Calibri" pitchFamily="34" charset="0"/>
                <a:ea typeface="Calibri" pitchFamily="34" charset="-122"/>
                <a:cs typeface="Calibri" pitchFamily="34" charset="-120"/>
              </a:rPr>
              <a:t>ready-made actions it can take in Databricks</a:t>
            </a:r>
            <a:endParaRPr lang="en-US" sz="1100" dirty="0"/>
          </a:p>
        </p:txBody>
      </p:sp>
      <p:sp>
        <p:nvSpPr>
          <p:cNvPr id="6" name="Shape 4"/>
          <p:cNvSpPr/>
          <p:nvPr/>
        </p:nvSpPr>
        <p:spPr>
          <a:xfrm>
            <a:off x="3246120" y="1280160"/>
            <a:ext cx="2651760" cy="1463040"/>
          </a:xfrm>
          <a:prstGeom prst="roundRect">
            <a:avLst>
              <a:gd name="adj" fmla="val 5000"/>
            </a:avLst>
          </a:prstGeom>
          <a:solidFill>
            <a:srgbClr val="262C3D"/>
          </a:solidFill>
          <a:ln/>
        </p:spPr>
      </p:sp>
      <p:sp>
        <p:nvSpPr>
          <p:cNvPr id="7" name="Text 5"/>
          <p:cNvSpPr/>
          <p:nvPr/>
        </p:nvSpPr>
        <p:spPr>
          <a:xfrm>
            <a:off x="3246120" y="1417320"/>
            <a:ext cx="2651760" cy="731520"/>
          </a:xfrm>
          <a:prstGeom prst="rect">
            <a:avLst/>
          </a:prstGeom>
          <a:noFill/>
          <a:ln/>
        </p:spPr>
        <p:txBody>
          <a:bodyPr wrap="square" lIns="0" tIns="0" rIns="0" bIns="0" rtlCol="0" anchor="ctr"/>
          <a:lstStyle/>
          <a:p>
            <a:pPr algn="ctr" indent="0" marL="0">
              <a:buNone/>
            </a:pPr>
            <a:r>
              <a:rPr lang="en-US" sz="4400" b="1" dirty="0">
                <a:solidFill>
                  <a:srgbClr val="FF3621"/>
                </a:solidFill>
                <a:latin typeface="Cambria" pitchFamily="34" charset="0"/>
                <a:ea typeface="Cambria" pitchFamily="34" charset="-122"/>
                <a:cs typeface="Cambria" pitchFamily="34" charset="-120"/>
              </a:rPr>
              <a:t>20</a:t>
            </a:r>
            <a:endParaRPr lang="en-US" sz="4400" dirty="0"/>
          </a:p>
        </p:txBody>
      </p:sp>
      <p:sp>
        <p:nvSpPr>
          <p:cNvPr id="8" name="Text 6"/>
          <p:cNvSpPr/>
          <p:nvPr/>
        </p:nvSpPr>
        <p:spPr>
          <a:xfrm>
            <a:off x="3429000" y="2148840"/>
            <a:ext cx="2286000" cy="502920"/>
          </a:xfrm>
          <a:prstGeom prst="rect">
            <a:avLst/>
          </a:prstGeom>
          <a:noFill/>
          <a:ln/>
        </p:spPr>
        <p:txBody>
          <a:bodyPr wrap="square" lIns="0" tIns="0" rIns="0" bIns="0" rtlCol="0" anchor="ctr"/>
          <a:lstStyle/>
          <a:p>
            <a:pPr algn="ctr" indent="0" marL="0">
              <a:buNone/>
            </a:pPr>
            <a:r>
              <a:rPr lang="en-US" sz="1100" dirty="0">
                <a:solidFill>
                  <a:srgbClr val="AEB4C2"/>
                </a:solidFill>
                <a:latin typeface="Calibri" pitchFamily="34" charset="0"/>
                <a:ea typeface="Calibri" pitchFamily="34" charset="-122"/>
                <a:cs typeface="Calibri" pitchFamily="34" charset="-120"/>
              </a:rPr>
              <a:t>curated Databricks skill guides built in</a:t>
            </a:r>
            <a:endParaRPr lang="en-US" sz="1100" dirty="0"/>
          </a:p>
        </p:txBody>
      </p:sp>
      <p:sp>
        <p:nvSpPr>
          <p:cNvPr id="9" name="Shape 7"/>
          <p:cNvSpPr/>
          <p:nvPr/>
        </p:nvSpPr>
        <p:spPr>
          <a:xfrm>
            <a:off x="6035040" y="1280160"/>
            <a:ext cx="2651760" cy="1463040"/>
          </a:xfrm>
          <a:prstGeom prst="roundRect">
            <a:avLst>
              <a:gd name="adj" fmla="val 5000"/>
            </a:avLst>
          </a:prstGeom>
          <a:solidFill>
            <a:srgbClr val="262C3D"/>
          </a:solidFill>
          <a:ln/>
        </p:spPr>
      </p:sp>
      <p:sp>
        <p:nvSpPr>
          <p:cNvPr id="10" name="Text 8"/>
          <p:cNvSpPr/>
          <p:nvPr/>
        </p:nvSpPr>
        <p:spPr>
          <a:xfrm>
            <a:off x="6035040" y="1417320"/>
            <a:ext cx="2651760" cy="731520"/>
          </a:xfrm>
          <a:prstGeom prst="rect">
            <a:avLst/>
          </a:prstGeom>
          <a:noFill/>
          <a:ln/>
        </p:spPr>
        <p:txBody>
          <a:bodyPr wrap="square" lIns="0" tIns="0" rIns="0" bIns="0" rtlCol="0" anchor="ctr"/>
          <a:lstStyle/>
          <a:p>
            <a:pPr algn="ctr" indent="0" marL="0">
              <a:buNone/>
            </a:pPr>
            <a:r>
              <a:rPr lang="en-US" sz="4400" b="1" dirty="0">
                <a:solidFill>
                  <a:srgbClr val="FF3621"/>
                </a:solidFill>
                <a:latin typeface="Cambria" pitchFamily="34" charset="0"/>
                <a:ea typeface="Cambria" pitchFamily="34" charset="-122"/>
                <a:cs typeface="Cambria" pitchFamily="34" charset="-120"/>
              </a:rPr>
              <a:t>0</a:t>
            </a:r>
            <a:endParaRPr lang="en-US" sz="4400" dirty="0"/>
          </a:p>
        </p:txBody>
      </p:sp>
      <p:sp>
        <p:nvSpPr>
          <p:cNvPr id="11" name="Text 9"/>
          <p:cNvSpPr/>
          <p:nvPr/>
        </p:nvSpPr>
        <p:spPr>
          <a:xfrm>
            <a:off x="6217920" y="2148840"/>
            <a:ext cx="2286000" cy="502920"/>
          </a:xfrm>
          <a:prstGeom prst="rect">
            <a:avLst/>
          </a:prstGeom>
          <a:noFill/>
          <a:ln/>
        </p:spPr>
        <p:txBody>
          <a:bodyPr wrap="square" lIns="0" tIns="0" rIns="0" bIns="0" rtlCol="0" anchor="ctr"/>
          <a:lstStyle/>
          <a:p>
            <a:pPr algn="ctr" indent="0" marL="0">
              <a:buNone/>
            </a:pPr>
            <a:r>
              <a:rPr lang="en-US" sz="1100" dirty="0">
                <a:solidFill>
                  <a:srgbClr val="AEB4C2"/>
                </a:solidFill>
                <a:latin typeface="Calibri" pitchFamily="34" charset="0"/>
                <a:ea typeface="Calibri" pitchFamily="34" charset="-122"/>
                <a:cs typeface="Calibri" pitchFamily="34" charset="-120"/>
              </a:rPr>
              <a:t>copy-paste round-trips between browser and notebook</a:t>
            </a:r>
            <a:endParaRPr lang="en-US" sz="1100" dirty="0"/>
          </a:p>
        </p:txBody>
      </p:sp>
      <p:sp>
        <p:nvSpPr>
          <p:cNvPr id="12" name="Shape 10"/>
          <p:cNvSpPr/>
          <p:nvPr/>
        </p:nvSpPr>
        <p:spPr>
          <a:xfrm>
            <a:off x="457200" y="2971800"/>
            <a:ext cx="8229600" cy="1005840"/>
          </a:xfrm>
          <a:prstGeom prst="roundRect">
            <a:avLst>
              <a:gd name="adj" fmla="val 7273"/>
            </a:avLst>
          </a:prstGeom>
          <a:solidFill>
            <a:srgbClr val="262C3D"/>
          </a:solidFill>
          <a:ln/>
        </p:spPr>
      </p:sp>
      <p:sp>
        <p:nvSpPr>
          <p:cNvPr id="13" name="Shape 11"/>
          <p:cNvSpPr/>
          <p:nvPr/>
        </p:nvSpPr>
        <p:spPr>
          <a:xfrm>
            <a:off x="640080" y="3154680"/>
            <a:ext cx="502920" cy="502920"/>
          </a:xfrm>
          <a:prstGeom prst="ellipse">
            <a:avLst/>
          </a:prstGeom>
          <a:solidFill>
            <a:srgbClr val="323A50"/>
          </a:solidFill>
          <a:ln/>
        </p:spPr>
      </p:sp>
      <p:pic>
        <p:nvPicPr>
          <p:cNvPr id="14" name="Image 0" descr="preencoded.png">    </p:cNvPr>
          <p:cNvPicPr>
            <a:picLocks noChangeAspect="1"/>
          </p:cNvPicPr>
          <p:nvPr/>
        </p:nvPicPr>
        <p:blipFill>
          <a:blip r:embed="rId1"/>
          <a:stretch>
            <a:fillRect/>
          </a:stretch>
        </p:blipFill>
        <p:spPr>
          <a:xfrm>
            <a:off x="705460" y="3220060"/>
            <a:ext cx="372161" cy="372161"/>
          </a:xfrm>
          <a:prstGeom prst="rect">
            <a:avLst/>
          </a:prstGeom>
        </p:spPr>
      </p:pic>
      <p:sp>
        <p:nvSpPr>
          <p:cNvPr id="15" name="Text 12"/>
          <p:cNvSpPr/>
          <p:nvPr/>
        </p:nvSpPr>
        <p:spPr>
          <a:xfrm>
            <a:off x="1280160" y="3108960"/>
            <a:ext cx="7040880" cy="9144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 action runs through your real Unity Catalog permissions — speed doesn't bypass governance. Databricks Asset Bundles give you a clean rollback path for anything an agent deploys.</a:t>
            </a:r>
            <a:endParaRPr lang="en-US" sz="1250" dirty="0"/>
          </a:p>
        </p:txBody>
      </p:sp>
      <p:sp>
        <p:nvSpPr>
          <p:cNvPr id="16" name="Text 13"/>
          <p:cNvSpPr/>
          <p:nvPr/>
        </p:nvSpPr>
        <p:spPr>
          <a:xfrm>
            <a:off x="457200" y="4160520"/>
            <a:ext cx="8229600" cy="457200"/>
          </a:xfrm>
          <a:prstGeom prst="rect">
            <a:avLst/>
          </a:prstGeom>
          <a:noFill/>
          <a:ln/>
        </p:spPr>
        <p:txBody>
          <a:bodyPr wrap="square" lIns="0" tIns="0" rIns="0" bIns="0" rtlCol="0" anchor="ctr"/>
          <a:lstStyle/>
          <a:p>
            <a:pPr indent="0" marL="0">
              <a:buNone/>
            </a:pPr>
            <a:r>
              <a:rPr lang="en-US" sz="950" i="1" dirty="0">
                <a:solidFill>
                  <a:srgbClr val="AEB4C2"/>
                </a:solidFill>
                <a:latin typeface="Calibri" pitchFamily="34" charset="0"/>
                <a:ea typeface="Calibri" pitchFamily="34" charset="-122"/>
                <a:cs typeface="Calibri" pitchFamily="34" charset="-120"/>
              </a:rPr>
              <a:t>Early hands-on reviewers report taking a first production-ready app from idea to working prototype in well under an hour — versus the multi-week setup it used to take. Anecdotal; results vary by use case.</a:t>
            </a:r>
            <a:endParaRPr lang="en-US" sz="950" dirty="0"/>
          </a:p>
        </p:txBody>
      </p:sp>
      <p:sp>
        <p:nvSpPr>
          <p:cNvPr id="17" name="Text 14"/>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AEB4C2"/>
                </a:solidFill>
                <a:latin typeface="Calibri" pitchFamily="34" charset="0"/>
                <a:ea typeface="Calibri" pitchFamily="34" charset="-122"/>
                <a:cs typeface="Calibri" pitchFamily="34" charset="-120"/>
              </a:rPr>
              <a:t>Databricks AI Dev Kit · Platform Engineering Demo</a:t>
            </a:r>
            <a:endParaRPr lang="en-US" sz="900" dirty="0"/>
          </a:p>
        </p:txBody>
      </p:sp>
      <p:sp>
        <p:nvSpPr>
          <p:cNvPr id="18" name="Text 15"/>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AEB4C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2B"/>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Try It On Your Next Ticket</a:t>
            </a:r>
            <a:endParaRPr lang="en-US" sz="28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400" i="1" dirty="0">
                <a:solidFill>
                  <a:srgbClr val="AEB4C2"/>
                </a:solidFill>
                <a:latin typeface="Calibri" pitchFamily="34" charset="0"/>
                <a:ea typeface="Calibri" pitchFamily="34" charset="-122"/>
                <a:cs typeface="Calibri" pitchFamily="34" charset="-120"/>
              </a:rPr>
              <a:t>One-time admin setup. Then every dev on the project gets it.</a:t>
            </a:r>
            <a:endParaRPr lang="en-US" sz="1400" dirty="0"/>
          </a:p>
        </p:txBody>
      </p:sp>
      <p:sp>
        <p:nvSpPr>
          <p:cNvPr id="4" name="Text 2"/>
          <p:cNvSpPr/>
          <p:nvPr/>
        </p:nvSpPr>
        <p:spPr>
          <a:xfrm>
            <a:off x="457200" y="1417320"/>
            <a:ext cx="3931920" cy="274320"/>
          </a:xfrm>
          <a:prstGeom prst="rect">
            <a:avLst/>
          </a:prstGeom>
          <a:noFill/>
          <a:ln/>
        </p:spPr>
        <p:txBody>
          <a:bodyPr wrap="square" lIns="0" tIns="0" rIns="0" bIns="0" rtlCol="0" anchor="ctr"/>
          <a:lstStyle/>
          <a:p>
            <a:pPr indent="0" marL="0">
              <a:buNone/>
            </a:pPr>
            <a:r>
              <a:rPr lang="en-US" sz="1200" b="1" spc="100" kern="0" dirty="0">
                <a:solidFill>
                  <a:srgbClr val="FF3621"/>
                </a:solidFill>
                <a:latin typeface="Calibri" pitchFamily="34" charset="0"/>
                <a:ea typeface="Calibri" pitchFamily="34" charset="-122"/>
                <a:cs typeface="Calibri" pitchFamily="34" charset="-120"/>
              </a:rPr>
              <a:t>GET SET UP</a:t>
            </a:r>
            <a:endParaRPr lang="en-US" sz="1200" dirty="0"/>
          </a:p>
        </p:txBody>
      </p:sp>
      <p:sp>
        <p:nvSpPr>
          <p:cNvPr id="5" name="Shape 3"/>
          <p:cNvSpPr/>
          <p:nvPr/>
        </p:nvSpPr>
        <p:spPr>
          <a:xfrm>
            <a:off x="457200" y="1755648"/>
            <a:ext cx="329184" cy="329184"/>
          </a:xfrm>
          <a:prstGeom prst="ellipse">
            <a:avLst/>
          </a:prstGeom>
          <a:solidFill>
            <a:srgbClr val="FF3621"/>
          </a:solidFill>
          <a:ln/>
        </p:spPr>
      </p:sp>
      <p:sp>
        <p:nvSpPr>
          <p:cNvPr id="6" name="Text 4"/>
          <p:cNvSpPr/>
          <p:nvPr/>
        </p:nvSpPr>
        <p:spPr>
          <a:xfrm>
            <a:off x="457200" y="175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14400" y="1755648"/>
            <a:ext cx="347472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Run the one-line install, targeting Copilot</a:t>
            </a:r>
            <a:endParaRPr lang="en-US" sz="1200" dirty="0"/>
          </a:p>
        </p:txBody>
      </p:sp>
      <p:sp>
        <p:nvSpPr>
          <p:cNvPr id="8" name="Shape 6"/>
          <p:cNvSpPr/>
          <p:nvPr/>
        </p:nvSpPr>
        <p:spPr>
          <a:xfrm>
            <a:off x="457200" y="2212848"/>
            <a:ext cx="329184" cy="329184"/>
          </a:xfrm>
          <a:prstGeom prst="ellipse">
            <a:avLst/>
          </a:prstGeom>
          <a:solidFill>
            <a:srgbClr val="FF3621"/>
          </a:solidFill>
          <a:ln/>
        </p:spPr>
      </p:sp>
      <p:sp>
        <p:nvSpPr>
          <p:cNvPr id="9" name="Text 7"/>
          <p:cNvSpPr/>
          <p:nvPr/>
        </p:nvSpPr>
        <p:spPr>
          <a:xfrm>
            <a:off x="457200" y="2212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914400" y="2212848"/>
            <a:ext cx="347472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Authenticate with your workspace</a:t>
            </a:r>
            <a:endParaRPr lang="en-US" sz="1200" dirty="0"/>
          </a:p>
        </p:txBody>
      </p:sp>
      <p:sp>
        <p:nvSpPr>
          <p:cNvPr id="11" name="Shape 9"/>
          <p:cNvSpPr/>
          <p:nvPr/>
        </p:nvSpPr>
        <p:spPr>
          <a:xfrm>
            <a:off x="457200" y="2670048"/>
            <a:ext cx="329184" cy="329184"/>
          </a:xfrm>
          <a:prstGeom prst="ellipse">
            <a:avLst/>
          </a:prstGeom>
          <a:solidFill>
            <a:srgbClr val="FF3621"/>
          </a:solidFill>
          <a:ln/>
        </p:spPr>
      </p:sp>
      <p:sp>
        <p:nvSpPr>
          <p:cNvPr id="12" name="Text 10"/>
          <p:cNvSpPr/>
          <p:nvPr/>
        </p:nvSpPr>
        <p:spPr>
          <a:xfrm>
            <a:off x="457200" y="2670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914400" y="2670048"/>
            <a:ext cx="347472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Whole team gets it automatically</a:t>
            </a:r>
            <a:endParaRPr lang="en-US" sz="1200" dirty="0"/>
          </a:p>
        </p:txBody>
      </p:sp>
      <p:sp>
        <p:nvSpPr>
          <p:cNvPr id="14" name="Text 12"/>
          <p:cNvSpPr/>
          <p:nvPr/>
        </p:nvSpPr>
        <p:spPr>
          <a:xfrm>
            <a:off x="4754880" y="1417320"/>
            <a:ext cx="3931920" cy="274320"/>
          </a:xfrm>
          <a:prstGeom prst="rect">
            <a:avLst/>
          </a:prstGeom>
          <a:noFill/>
          <a:ln/>
        </p:spPr>
        <p:txBody>
          <a:bodyPr wrap="square" lIns="0" tIns="0" rIns="0" bIns="0" rtlCol="0" anchor="ctr"/>
          <a:lstStyle/>
          <a:p>
            <a:pPr indent="0" marL="0">
              <a:buNone/>
            </a:pPr>
            <a:r>
              <a:rPr lang="en-US" sz="1200" b="1" spc="100" kern="0" dirty="0">
                <a:solidFill>
                  <a:srgbClr val="FF3621"/>
                </a:solidFill>
                <a:latin typeface="Calibri" pitchFamily="34" charset="0"/>
                <a:ea typeface="Calibri" pitchFamily="34" charset="-122"/>
                <a:cs typeface="Calibri" pitchFamily="34" charset="-120"/>
              </a:rPr>
              <a:t>WHY IT MATTERS</a:t>
            </a:r>
            <a:endParaRPr lang="en-US" sz="1200" dirty="0"/>
          </a:p>
        </p:txBody>
      </p:sp>
      <p:sp>
        <p:nvSpPr>
          <p:cNvPr id="15" name="Shape 13"/>
          <p:cNvSpPr/>
          <p:nvPr/>
        </p:nvSpPr>
        <p:spPr>
          <a:xfrm>
            <a:off x="4754880" y="1755648"/>
            <a:ext cx="329184" cy="329184"/>
          </a:xfrm>
          <a:prstGeom prst="ellipse">
            <a:avLst/>
          </a:prstGeom>
          <a:solidFill>
            <a:srgbClr val="2A3146"/>
          </a:solidFill>
          <a:ln/>
        </p:spPr>
      </p:sp>
      <p:pic>
        <p:nvPicPr>
          <p:cNvPr id="16" name="Image 0" descr="preencoded.png">    </p:cNvPr>
          <p:cNvPicPr>
            <a:picLocks noChangeAspect="1"/>
          </p:cNvPicPr>
          <p:nvPr/>
        </p:nvPicPr>
        <p:blipFill>
          <a:blip r:embed="rId1"/>
          <a:stretch>
            <a:fillRect/>
          </a:stretch>
        </p:blipFill>
        <p:spPr>
          <a:xfrm>
            <a:off x="4797674" y="1798442"/>
            <a:ext cx="243596" cy="243596"/>
          </a:xfrm>
          <a:prstGeom prst="rect">
            <a:avLst/>
          </a:prstGeom>
        </p:spPr>
      </p:pic>
      <p:sp>
        <p:nvSpPr>
          <p:cNvPr id="17" name="Text 14"/>
          <p:cNvSpPr/>
          <p:nvPr/>
        </p:nvSpPr>
        <p:spPr>
          <a:xfrm>
            <a:off x="5212080" y="1755648"/>
            <a:ext cx="347472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 more copy-paste coding</a:t>
            </a:r>
            <a:endParaRPr lang="en-US" sz="1200" dirty="0"/>
          </a:p>
        </p:txBody>
      </p:sp>
      <p:sp>
        <p:nvSpPr>
          <p:cNvPr id="18" name="Shape 15"/>
          <p:cNvSpPr/>
          <p:nvPr/>
        </p:nvSpPr>
        <p:spPr>
          <a:xfrm>
            <a:off x="4754880" y="2212848"/>
            <a:ext cx="329184" cy="329184"/>
          </a:xfrm>
          <a:prstGeom prst="ellipse">
            <a:avLst/>
          </a:prstGeom>
          <a:solidFill>
            <a:srgbClr val="2A3146"/>
          </a:solidFill>
          <a:ln/>
        </p:spPr>
      </p:sp>
      <p:pic>
        <p:nvPicPr>
          <p:cNvPr id="19" name="Image 1" descr="preencoded.png">    </p:cNvPr>
          <p:cNvPicPr>
            <a:picLocks noChangeAspect="1"/>
          </p:cNvPicPr>
          <p:nvPr/>
        </p:nvPicPr>
        <p:blipFill>
          <a:blip r:embed="rId2"/>
          <a:stretch>
            <a:fillRect/>
          </a:stretch>
        </p:blipFill>
        <p:spPr>
          <a:xfrm>
            <a:off x="4797674" y="2255642"/>
            <a:ext cx="243596" cy="243596"/>
          </a:xfrm>
          <a:prstGeom prst="rect">
            <a:avLst/>
          </a:prstGeom>
        </p:spPr>
      </p:pic>
      <p:sp>
        <p:nvSpPr>
          <p:cNvPr id="20" name="Text 16"/>
          <p:cNvSpPr/>
          <p:nvPr/>
        </p:nvSpPr>
        <p:spPr>
          <a:xfrm>
            <a:off x="5212080" y="2212848"/>
            <a:ext cx="347472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Faster builds, same governance</a:t>
            </a:r>
            <a:endParaRPr lang="en-US" sz="1200" dirty="0"/>
          </a:p>
        </p:txBody>
      </p:sp>
      <p:sp>
        <p:nvSpPr>
          <p:cNvPr id="21" name="Shape 17"/>
          <p:cNvSpPr/>
          <p:nvPr/>
        </p:nvSpPr>
        <p:spPr>
          <a:xfrm>
            <a:off x="4754880" y="2670048"/>
            <a:ext cx="329184" cy="329184"/>
          </a:xfrm>
          <a:prstGeom prst="ellipse">
            <a:avLst/>
          </a:prstGeom>
          <a:solidFill>
            <a:srgbClr val="2A3146"/>
          </a:solidFill>
          <a:ln/>
        </p:spPr>
      </p:sp>
      <p:pic>
        <p:nvPicPr>
          <p:cNvPr id="22" name="Image 2" descr="preencoded.png">    </p:cNvPr>
          <p:cNvPicPr>
            <a:picLocks noChangeAspect="1"/>
          </p:cNvPicPr>
          <p:nvPr/>
        </p:nvPicPr>
        <p:blipFill>
          <a:blip r:embed="rId3"/>
          <a:stretch>
            <a:fillRect/>
          </a:stretch>
        </p:blipFill>
        <p:spPr>
          <a:xfrm>
            <a:off x="4797674" y="2712842"/>
            <a:ext cx="243596" cy="243596"/>
          </a:xfrm>
          <a:prstGeom prst="rect">
            <a:avLst/>
          </a:prstGeom>
        </p:spPr>
      </p:pic>
      <p:sp>
        <p:nvSpPr>
          <p:cNvPr id="23" name="Text 18"/>
          <p:cNvSpPr/>
          <p:nvPr/>
        </p:nvSpPr>
        <p:spPr>
          <a:xfrm>
            <a:off x="5212080" y="2670048"/>
            <a:ext cx="3474720" cy="32918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Works with tools you already use</a:t>
            </a:r>
            <a:endParaRPr lang="en-US" sz="1200" dirty="0"/>
          </a:p>
        </p:txBody>
      </p:sp>
      <p:sp>
        <p:nvSpPr>
          <p:cNvPr id="24" name="Shape 19"/>
          <p:cNvSpPr/>
          <p:nvPr/>
        </p:nvSpPr>
        <p:spPr>
          <a:xfrm>
            <a:off x="457200" y="3246120"/>
            <a:ext cx="8229600" cy="914400"/>
          </a:xfrm>
          <a:prstGeom prst="roundRect">
            <a:avLst>
              <a:gd name="adj" fmla="val 6000"/>
            </a:avLst>
          </a:prstGeom>
          <a:solidFill>
            <a:srgbClr val="262C3D"/>
          </a:solidFill>
          <a:ln/>
        </p:spPr>
      </p:sp>
      <p:sp>
        <p:nvSpPr>
          <p:cNvPr id="25" name="Shape 20"/>
          <p:cNvSpPr/>
          <p:nvPr/>
        </p:nvSpPr>
        <p:spPr>
          <a:xfrm>
            <a:off x="594360" y="3447288"/>
            <a:ext cx="411480" cy="411480"/>
          </a:xfrm>
          <a:prstGeom prst="ellipse">
            <a:avLst/>
          </a:prstGeom>
          <a:solidFill>
            <a:srgbClr val="323A50"/>
          </a:solidFill>
          <a:ln/>
        </p:spPr>
      </p:sp>
      <p:pic>
        <p:nvPicPr>
          <p:cNvPr id="26" name="Image 3" descr="preencoded.png">    </p:cNvPr>
          <p:cNvPicPr>
            <a:picLocks noChangeAspect="1"/>
          </p:cNvPicPr>
          <p:nvPr/>
        </p:nvPicPr>
        <p:blipFill>
          <a:blip r:embed="rId4"/>
          <a:stretch>
            <a:fillRect/>
          </a:stretch>
        </p:blipFill>
        <p:spPr>
          <a:xfrm>
            <a:off x="647852" y="3500780"/>
            <a:ext cx="304495" cy="304495"/>
          </a:xfrm>
          <a:prstGeom prst="rect">
            <a:avLst/>
          </a:prstGeom>
        </p:spPr>
      </p:pic>
      <p:sp>
        <p:nvSpPr>
          <p:cNvPr id="27" name="Text 21"/>
          <p:cNvSpPr/>
          <p:nvPr/>
        </p:nvSpPr>
        <p:spPr>
          <a:xfrm>
            <a:off x="1143000" y="3246120"/>
            <a:ext cx="7406640" cy="914400"/>
          </a:xfrm>
          <a:prstGeom prst="rect">
            <a:avLst/>
          </a:prstGeom>
          <a:noFill/>
          <a:ln/>
        </p:spPr>
        <p:txBody>
          <a:bodyPr wrap="square" lIns="0" tIns="0" rIns="0" bIns="0" rtlCol="0" anchor="ctr"/>
          <a:lstStyle/>
          <a:p>
            <a:pPr indent="0" marL="0">
              <a:buNone/>
            </a:pPr>
            <a:r>
              <a:rPr lang="en-US" sz="1100" dirty="0">
                <a:solidFill>
                  <a:srgbClr val="9FE8A8"/>
                </a:solidFill>
                <a:latin typeface="Courier New" pitchFamily="34" charset="0"/>
                <a:ea typeface="Courier New" pitchFamily="34" charset="-122"/>
                <a:cs typeface="Courier New" pitchFamily="34" charset="-120"/>
              </a:rPr>
              <a:t>bash &lt;(curl -sL raw.githubusercontent.com/databricks-solutions/ai-dev-kit/main/install.sh) --tools copilot</a:t>
            </a:r>
            <a:endParaRPr lang="en-US" sz="1100" dirty="0"/>
          </a:p>
        </p:txBody>
      </p:sp>
      <p:sp>
        <p:nvSpPr>
          <p:cNvPr id="28" name="Shape 22"/>
          <p:cNvSpPr/>
          <p:nvPr/>
        </p:nvSpPr>
        <p:spPr>
          <a:xfrm>
            <a:off x="457200" y="4279392"/>
            <a:ext cx="8229600" cy="457200"/>
          </a:xfrm>
          <a:prstGeom prst="roundRect">
            <a:avLst>
              <a:gd name="adj" fmla="val 16000"/>
            </a:avLst>
          </a:prstGeom>
          <a:solidFill>
            <a:srgbClr val="FF3621"/>
          </a:solidFill>
          <a:ln/>
        </p:spPr>
      </p:sp>
      <p:sp>
        <p:nvSpPr>
          <p:cNvPr id="29" name="Shape 23"/>
          <p:cNvSpPr/>
          <p:nvPr/>
        </p:nvSpPr>
        <p:spPr>
          <a:xfrm>
            <a:off x="7406640" y="4370832"/>
            <a:ext cx="292608" cy="292608"/>
          </a:xfrm>
          <a:prstGeom prst="ellipse">
            <a:avLst/>
          </a:prstGeom>
          <a:solidFill>
            <a:srgbClr val="D62E1A"/>
          </a:solidFill>
          <a:ln/>
        </p:spPr>
      </p:sp>
      <p:pic>
        <p:nvPicPr>
          <p:cNvPr id="30" name="Image 4" descr="preencoded.png">    </p:cNvPr>
          <p:cNvPicPr>
            <a:picLocks noChangeAspect="1"/>
          </p:cNvPicPr>
          <p:nvPr/>
        </p:nvPicPr>
        <p:blipFill>
          <a:blip r:embed="rId5"/>
          <a:stretch>
            <a:fillRect/>
          </a:stretch>
        </p:blipFill>
        <p:spPr>
          <a:xfrm>
            <a:off x="7444679" y="4408871"/>
            <a:ext cx="216530" cy="216530"/>
          </a:xfrm>
          <a:prstGeom prst="rect">
            <a:avLst/>
          </a:prstGeom>
        </p:spPr>
      </p:pic>
      <p:sp>
        <p:nvSpPr>
          <p:cNvPr id="31" name="Text 24"/>
          <p:cNvSpPr/>
          <p:nvPr/>
        </p:nvSpPr>
        <p:spPr>
          <a:xfrm>
            <a:off x="731520" y="4279392"/>
            <a:ext cx="63093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github.com/databricks-solutions/ai-dev-kit</a:t>
            </a:r>
            <a:endParaRPr lang="en-US" sz="1300" dirty="0"/>
          </a:p>
        </p:txBody>
      </p:sp>
      <p:sp>
        <p:nvSpPr>
          <p:cNvPr id="32" name="Text 25"/>
          <p:cNvSpPr/>
          <p:nvPr/>
        </p:nvSpPr>
        <p:spPr>
          <a:xfrm>
            <a:off x="457200" y="4864608"/>
            <a:ext cx="6400800" cy="228600"/>
          </a:xfrm>
          <a:prstGeom prst="rect">
            <a:avLst/>
          </a:prstGeom>
          <a:noFill/>
          <a:ln/>
        </p:spPr>
        <p:txBody>
          <a:bodyPr wrap="square" lIns="0" tIns="0" rIns="0" bIns="0" rtlCol="0" anchor="ctr"/>
          <a:lstStyle/>
          <a:p>
            <a:pPr indent="0" marL="0">
              <a:buNone/>
            </a:pPr>
            <a:r>
              <a:rPr lang="en-US" sz="900" dirty="0">
                <a:solidFill>
                  <a:srgbClr val="AEB4C2"/>
                </a:solidFill>
                <a:latin typeface="Calibri" pitchFamily="34" charset="0"/>
                <a:ea typeface="Calibri" pitchFamily="34" charset="-122"/>
                <a:cs typeface="Calibri" pitchFamily="34" charset="-120"/>
              </a:rPr>
              <a:t>Databricks AI Dev Kit · Platform Engineering Demo</a:t>
            </a:r>
            <a:endParaRPr lang="en-US" sz="900" dirty="0"/>
          </a:p>
        </p:txBody>
      </p:sp>
      <p:sp>
        <p:nvSpPr>
          <p:cNvPr id="33" name="Text 26"/>
          <p:cNvSpPr/>
          <p:nvPr/>
        </p:nvSpPr>
        <p:spPr>
          <a:xfrm>
            <a:off x="8412480" y="4864608"/>
            <a:ext cx="365760" cy="228600"/>
          </a:xfrm>
          <a:prstGeom prst="rect">
            <a:avLst/>
          </a:prstGeom>
          <a:noFill/>
          <a:ln/>
        </p:spPr>
        <p:txBody>
          <a:bodyPr wrap="square" lIns="0" tIns="0" rIns="0" bIns="0" rtlCol="0" anchor="ctr"/>
          <a:lstStyle/>
          <a:p>
            <a:pPr algn="r" indent="0" marL="0">
              <a:buNone/>
            </a:pPr>
            <a:r>
              <a:rPr lang="en-US" sz="900" dirty="0">
                <a:solidFill>
                  <a:srgbClr val="AEB4C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AI Dev Kit</dc:title>
  <dc:subject>PptxGenJS Presentation</dc:subject>
  <dc:creator>Platform Engineering</dc:creator>
  <cp:lastModifiedBy>Platform Engineering</cp:lastModifiedBy>
  <cp:revision>1</cp:revision>
  <dcterms:created xsi:type="dcterms:W3CDTF">2026-06-20T13:56:37Z</dcterms:created>
  <dcterms:modified xsi:type="dcterms:W3CDTF">2026-06-20T13:56:37Z</dcterms:modified>
</cp:coreProperties>
</file>